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4"/>
  </p:notesMasterIdLst>
  <p:sldIdLst>
    <p:sldId id="256" r:id="rId2"/>
    <p:sldId id="257" r:id="rId3"/>
    <p:sldId id="258" r:id="rId4"/>
    <p:sldId id="271" r:id="rId5"/>
    <p:sldId id="272" r:id="rId6"/>
    <p:sldId id="259" r:id="rId7"/>
    <p:sldId id="273" r:id="rId8"/>
    <p:sldId id="260" r:id="rId9"/>
    <p:sldId id="274" r:id="rId10"/>
    <p:sldId id="275" r:id="rId11"/>
    <p:sldId id="263" r:id="rId12"/>
    <p:sldId id="261" r:id="rId13"/>
    <p:sldId id="262" r:id="rId14"/>
    <p:sldId id="269" r:id="rId15"/>
    <p:sldId id="264" r:id="rId16"/>
    <p:sldId id="266" r:id="rId17"/>
    <p:sldId id="267" r:id="rId18"/>
    <p:sldId id="293" r:id="rId19"/>
    <p:sldId id="297" r:id="rId20"/>
    <p:sldId id="294" r:id="rId21"/>
    <p:sldId id="295" r:id="rId22"/>
    <p:sldId id="296" r:id="rId23"/>
    <p:sldId id="268" r:id="rId24"/>
    <p:sldId id="291" r:id="rId25"/>
    <p:sldId id="299" r:id="rId26"/>
    <p:sldId id="276" r:id="rId27"/>
    <p:sldId id="278" r:id="rId28"/>
    <p:sldId id="305" r:id="rId29"/>
    <p:sldId id="300" r:id="rId30"/>
    <p:sldId id="301" r:id="rId31"/>
    <p:sldId id="292" r:id="rId32"/>
    <p:sldId id="298" r:id="rId33"/>
    <p:sldId id="302" r:id="rId34"/>
    <p:sldId id="304" r:id="rId35"/>
    <p:sldId id="290" r:id="rId36"/>
    <p:sldId id="281" r:id="rId37"/>
    <p:sldId id="282" r:id="rId38"/>
    <p:sldId id="283" r:id="rId39"/>
    <p:sldId id="284" r:id="rId40"/>
    <p:sldId id="285" r:id="rId41"/>
    <p:sldId id="286" r:id="rId42"/>
    <p:sldId id="288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1A4D4-91C1-4B5D-9A67-50E109F34F23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AA8DF-DC3C-4C73-B85A-FFD3B30DD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5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2AA8DF-DC3C-4C73-B85A-FFD3B30DD80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53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3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2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5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4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7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4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9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7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9B921-C34F-4283-8AAA-E828BCCE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7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-flair.training/blogs/hadoop-hdfs-data-read-and-write-operations/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ata-flair.training/blogs/hadoop-ecosystem-components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ta-flair.training/blogs/hadoop-analytics-tools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flair.training/blogs/hadoop-ecosystem-components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VmO0QgPCbZY&amp;t=9256s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" y="838200"/>
            <a:ext cx="8305800" cy="2387600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HADOOP2.x </a:t>
            </a:r>
            <a:r>
              <a:rPr lang="en-US" b="1" dirty="0" smtClean="0">
                <a:solidFill>
                  <a:srgbClr val="002060"/>
                </a:solidFill>
              </a:rPr>
              <a:t>and WordCount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latin typeface="Cambria" panose="02040503050406030204" pitchFamily="18" charset="0"/>
              </a:rPr>
              <a:t>Praveen Kumar Chandaliya, DoAI, SVNIT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1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-5080" y="37644"/>
            <a:ext cx="9149080" cy="549274"/>
          </a:xfrm>
          <a:solidFill>
            <a:schemeClr val="accent4"/>
          </a:solidFill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Hadoop Storage Scalability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6800" y="738118"/>
            <a:ext cx="7848600" cy="1437005"/>
          </a:xfrm>
        </p:spPr>
        <p:txBody>
          <a:bodyPr/>
          <a:lstStyle/>
          <a:p>
            <a:r>
              <a:rPr lang="en-IN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KB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(Kilobyte)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10³ </a:t>
            </a:r>
            <a:r>
              <a:rPr lang="en-IN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bytes -&gt; </a:t>
            </a:r>
            <a:r>
              <a:rPr lang="en-IN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MB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(Megabyte)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10⁶ </a:t>
            </a:r>
            <a:r>
              <a:rPr lang="en-IN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bytes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GB (Gigabyte)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10⁹ </a:t>
            </a:r>
            <a:r>
              <a:rPr lang="en-IN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bytes-&gt; </a:t>
            </a:r>
            <a:r>
              <a:rPr lang="en-IN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TB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(Terabyte)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10¹² bytes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PB (Petabyte)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10¹⁵ </a:t>
            </a:r>
            <a:r>
              <a:rPr lang="en-IN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bytes -&gt;</a:t>
            </a:r>
            <a:r>
              <a:rPr lang="en-IN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EB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(Exabyte)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10¹⁸ bytes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ZB (Zettabyte)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10²¹ </a:t>
            </a:r>
            <a:r>
              <a:rPr lang="en-IN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bytes- &gt;</a:t>
            </a:r>
            <a:r>
              <a:rPr lang="en-IN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YB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(Yottabyte)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10²⁴ bytes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5080" y="2049889"/>
            <a:ext cx="9072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At the lower end (KB–GB):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Hadoop is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not efficient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for very small files (like KB or MB scale) because each file creates metadata overhead in the </a:t>
            </a:r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NameNode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.  A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few GB can be managed, but traditional databases or file systems are usually better at this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250218"/>
            <a:ext cx="89966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Medium scale (TB–PB):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Hadoop truly shines here.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Large-scale enterprises, research labs, and social networks typically manage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terabytes to petabytes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of logs, images, videos, and structured/unstructured data in HDFS.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The default block size (64MB, 128 MB,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or 256 MB) makes it efficient for splitting huge files and distributing them across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DataNodes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-40640" y="5004544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Large scale (EB–YB):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Modern Hadoop clusters (especially with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cloud + commodity hardware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 can scale up to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exabytes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of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Companies like Facebook, Yahoo, and LinkedIn maintain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multi-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exabyte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Hadoop clusters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Yottabyte scale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is more theoretical as of now (no single Hadoop cluster yet runs at yottabyte scale), but HDFS design can extend horizontally by just adding nodes.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E:\Cloud_Computing\7CS1_CLOUD_COMPUTING\big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03784"/>
            <a:ext cx="8305800" cy="623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0" y="0"/>
            <a:ext cx="9149080" cy="549274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Cambria" panose="02040503050406030204" pitchFamily="18" charset="0"/>
              </a:rPr>
              <a:t>Data Fact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E:\Cloud_Computing\7CS1_CLOUD_COMPUTING\big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17525"/>
            <a:ext cx="8216900" cy="582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E:\Cloud_Computing\7CS1_CLOUD_COMPUTING\big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465138"/>
            <a:ext cx="7994650" cy="592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2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5" name="Picture 3" descr="E:\Cloud_Computing\7CS1_CLOUD_COMPUTING\bigda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1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838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Cambria" panose="02040503050406030204" pitchFamily="18" charset="0"/>
              </a:rPr>
              <a:t>Big Data Definition </a:t>
            </a:r>
            <a:endParaRPr lang="en-US" sz="2800" dirty="0">
              <a:latin typeface="Cambria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Big data is high volume, high velocity and high-variety information assets that demand cost effective, innovative forms of information processing for enhanced insight and decision making-Gartner. 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algn="just"/>
            <a:endParaRPr lang="en-US" sz="2800" dirty="0">
              <a:latin typeface="Cambria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Big data refers to large data sets that are challenging to store, search, share, visualize and analyze. 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algn="just"/>
            <a:endParaRPr lang="en-US" sz="2800" dirty="0">
              <a:latin typeface="Cambria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With big data the value is discovered through a refining modeling process. Make hypothesis, create statistical, visual, semantic models validate then make a new hypothesis.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0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:\Cloud_Computing\7CS1_CLOUD_COMPUTING\v5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2" r="13927"/>
          <a:stretch/>
        </p:blipFill>
        <p:spPr bwMode="auto">
          <a:xfrm>
            <a:off x="152400" y="1371600"/>
            <a:ext cx="494888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125" y="1371600"/>
            <a:ext cx="3949890" cy="3877863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7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:\Cloud_Computing\7CS1_CLOUD_COMPUTING\bigc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0413"/>
            <a:ext cx="8382000" cy="571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63634" y="6292334"/>
            <a:ext cx="368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OLAP:  Online transaction Processing 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0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:\Cloud_Computing\7CS1_CLOUD_COMPUTING\chadem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5" t="5652" r="3540" b="2503"/>
          <a:stretch/>
        </p:blipFill>
        <p:spPr bwMode="auto">
          <a:xfrm>
            <a:off x="838201" y="838199"/>
            <a:ext cx="7772400" cy="4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5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E:\Cloud_Computing\7CS1_CLOUD_COMPUTING\newstyleofi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62013"/>
            <a:ext cx="84582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8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E:\Cloud_Computing\7CS1_CLOUD_COMPUTING\set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914400"/>
            <a:ext cx="7696200" cy="579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5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0500" y="-5079"/>
            <a:ext cx="7886700" cy="61468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What is Hadoop?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0500" y="609601"/>
            <a:ext cx="8750300" cy="4486274"/>
          </a:xfrm>
        </p:spPr>
        <p:txBody>
          <a:bodyPr/>
          <a:lstStyle/>
          <a:p>
            <a:pPr algn="just"/>
            <a:r>
              <a:rPr lang="en-GB" b="1" dirty="0"/>
              <a:t>Hadoop is an open-source software framework for storing and processing massive amounts of data (Big Data) across clusters of commodity computers using simple programming models.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1752600"/>
            <a:ext cx="2171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Characteristic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0500" y="2438400"/>
            <a:ext cx="87503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</a:rPr>
              <a:t>HDFS is designed to store a very large amount of information(TB &amp; PB). This requires spreading the data across a large number of machines. It also supports much larger file sizes than NFS.</a:t>
            </a:r>
          </a:p>
          <a:p>
            <a:pPr algn="just"/>
            <a:endParaRPr lang="en-US" b="1" dirty="0">
              <a:latin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</a:rPr>
              <a:t>HDFS should store data reliably. </a:t>
            </a:r>
            <a:r>
              <a:rPr lang="en-GB" b="1" dirty="0">
                <a:latin typeface="Cambria" panose="02040503050406030204" pitchFamily="18" charset="0"/>
              </a:rPr>
              <a:t>If individual machines in the cluster malfunction(fail), data should</a:t>
            </a:r>
            <a:r>
              <a:rPr lang="en-US" b="1" dirty="0">
                <a:latin typeface="Cambria" panose="02040503050406030204" pitchFamily="18" charset="0"/>
              </a:rPr>
              <a:t> still be available.</a:t>
            </a:r>
          </a:p>
          <a:p>
            <a:pPr algn="just"/>
            <a:endParaRPr lang="en-US" b="1" dirty="0">
              <a:latin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</a:rPr>
              <a:t>HDFS should provide fast, scalable access to this information</a:t>
            </a:r>
            <a:r>
              <a:rPr lang="en-GB" b="1" dirty="0">
                <a:latin typeface="Cambria" panose="02040503050406030204" pitchFamily="18" charset="0"/>
              </a:rPr>
              <a:t>. it should be possible to serve a large number of clients by simply adding more machines</a:t>
            </a:r>
            <a:r>
              <a:rPr lang="en-US" b="1" dirty="0">
                <a:latin typeface="Cambria" panose="02040503050406030204" pitchFamily="18" charset="0"/>
              </a:rPr>
              <a:t> to the cluster.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>
              <a:latin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</a:rPr>
              <a:t>HDFS should integrate well with Hadoop </a:t>
            </a:r>
            <a:r>
              <a:rPr lang="en-US" b="1" dirty="0" err="1">
                <a:latin typeface="Cambria" panose="02040503050406030204" pitchFamily="18" charset="0"/>
              </a:rPr>
              <a:t>MapReduce</a:t>
            </a:r>
            <a:r>
              <a:rPr lang="en-US" b="1" dirty="0">
                <a:latin typeface="Cambria" panose="02040503050406030204" pitchFamily="18" charset="0"/>
              </a:rPr>
              <a:t>, allowing data to be read and computed upon locally when possible.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7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:\Cloud_Computing\7CS1_CLOUD_COMPUTING\hdfshisto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442"/>
            <a:ext cx="7335280" cy="510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6990080" y="3657600"/>
            <a:ext cx="101092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2013–2017</a:t>
            </a:r>
          </a:p>
        </p:txBody>
      </p:sp>
      <p:sp>
        <p:nvSpPr>
          <p:cNvPr id="4" name="Rectangle 3"/>
          <p:cNvSpPr/>
          <p:nvPr/>
        </p:nvSpPr>
        <p:spPr>
          <a:xfrm>
            <a:off x="7010400" y="4114800"/>
            <a:ext cx="817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latin typeface="Roboto"/>
              </a:rPr>
              <a:t>YARN</a:t>
            </a:r>
            <a:endParaRPr lang="en-IN" b="1" dirty="0"/>
          </a:p>
        </p:txBody>
      </p:sp>
      <p:sp>
        <p:nvSpPr>
          <p:cNvPr id="6" name="Rounded Rectangle 5"/>
          <p:cNvSpPr/>
          <p:nvPr/>
        </p:nvSpPr>
        <p:spPr>
          <a:xfrm>
            <a:off x="8009890" y="3657600"/>
            <a:ext cx="101092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2017 Onward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48251" y="411988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latin typeface="Roboto"/>
              </a:rPr>
              <a:t>Hadoop3.0</a:t>
            </a:r>
            <a:endParaRPr lang="en-IN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6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_Computing\7CS1_CLOUD_COMPUTING\hadoopclus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6934388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5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228600"/>
            <a:ext cx="8286750" cy="549274"/>
          </a:xfrm>
          <a:solidFill>
            <a:schemeClr val="accent4"/>
          </a:solidFill>
        </p:spPr>
        <p:txBody>
          <a:bodyPr/>
          <a:lstStyle/>
          <a:p>
            <a:r>
              <a:rPr lang="en-US" dirty="0" smtClean="0">
                <a:latin typeface="Cambria" panose="02040503050406030204" pitchFamily="18" charset="0"/>
              </a:rPr>
              <a:t>HDFS 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6021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latin typeface="Cambria" panose="02040503050406030204" pitchFamily="18" charset="0"/>
              </a:rPr>
              <a:t>It is </a:t>
            </a:r>
            <a:r>
              <a:rPr lang="en-GB" sz="2800" b="1" dirty="0">
                <a:latin typeface="Cambria" panose="02040503050406030204" pitchFamily="18" charset="0"/>
              </a:rPr>
              <a:t>a specially designed file system for storing huge data sets with a cluster of commodity hardware with a streaming access </a:t>
            </a:r>
            <a:r>
              <a:rPr lang="en-GB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pattern(write one, read any number of times, but do not try to change the content of the file that was written in HDFS</a:t>
            </a:r>
            <a:r>
              <a:rPr lang="en-US" sz="2800" b="1" dirty="0" smtClean="0">
                <a:latin typeface="Cambria" panose="020405030504060302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smtClean="0">
                <a:latin typeface="Cambria" panose="02040503050406030204" pitchFamily="18" charset="0"/>
              </a:rPr>
              <a:t>   </a:t>
            </a:r>
            <a:endParaRPr lang="en-US" sz="2800" b="1" dirty="0">
              <a:latin typeface="Cambria" panose="0204050305040603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9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64835"/>
            <a:ext cx="7886700" cy="620153"/>
          </a:xfrm>
          <a:solidFill>
            <a:srgbClr val="FFC000"/>
          </a:solidFill>
        </p:spPr>
        <p:txBody>
          <a:bodyPr/>
          <a:lstStyle/>
          <a:p>
            <a:r>
              <a:rPr lang="en-US" dirty="0" smtClean="0">
                <a:latin typeface="Cambria" panose="02040503050406030204" pitchFamily="18" charset="0"/>
              </a:rPr>
              <a:t>NORMAL FILE SYSTEM</a:t>
            </a:r>
            <a:endParaRPr lang="en-US" dirty="0">
              <a:latin typeface="Cambria" panose="020405030504060302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830223"/>
              </p:ext>
            </p:extLst>
          </p:nvPr>
        </p:nvGraphicFramePr>
        <p:xfrm>
          <a:off x="2514600" y="2438400"/>
          <a:ext cx="43434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loud 3"/>
          <p:cNvSpPr/>
          <p:nvPr/>
        </p:nvSpPr>
        <p:spPr>
          <a:xfrm>
            <a:off x="7239000" y="2895600"/>
            <a:ext cx="1295400" cy="1143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1TB HD</a:t>
            </a:r>
            <a:endParaRPr lang="en-US" b="1" dirty="0"/>
          </a:p>
        </p:txBody>
      </p:sp>
      <p:cxnSp>
        <p:nvCxnSpPr>
          <p:cNvPr id="6" name="Straight Arrow Connector 5"/>
          <p:cNvCxnSpPr>
            <a:endCxn id="3" idx="3"/>
          </p:cNvCxnSpPr>
          <p:nvPr/>
        </p:nvCxnSpPr>
        <p:spPr>
          <a:xfrm flipH="1">
            <a:off x="6858000" y="3657600"/>
            <a:ext cx="381000" cy="26416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loud 6"/>
          <p:cNvSpPr/>
          <p:nvPr/>
        </p:nvSpPr>
        <p:spPr>
          <a:xfrm rot="20794752">
            <a:off x="953159" y="3350260"/>
            <a:ext cx="1295400" cy="1143000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Block</a:t>
            </a:r>
          </a:p>
          <a:p>
            <a:pPr algn="ctr"/>
            <a:r>
              <a:rPr lang="en-US" b="1" dirty="0" smtClean="0"/>
              <a:t>Size 4kb </a:t>
            </a:r>
            <a:endParaRPr lang="en-US" b="1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286000" y="3789680"/>
            <a:ext cx="152268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Snip Single Corner Rectangle 10"/>
          <p:cNvSpPr/>
          <p:nvPr/>
        </p:nvSpPr>
        <p:spPr>
          <a:xfrm>
            <a:off x="3962400" y="3657600"/>
            <a:ext cx="609600" cy="208280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2kb</a:t>
            </a:r>
            <a:endParaRPr lang="en-US" dirty="0"/>
          </a:p>
        </p:txBody>
      </p:sp>
      <p:sp>
        <p:nvSpPr>
          <p:cNvPr id="10" name="Cloud 9"/>
          <p:cNvSpPr/>
          <p:nvPr/>
        </p:nvSpPr>
        <p:spPr>
          <a:xfrm rot="567107">
            <a:off x="800759" y="2118867"/>
            <a:ext cx="1295400" cy="1143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sector</a:t>
            </a:r>
          </a:p>
          <a:p>
            <a:pPr algn="ctr"/>
            <a:r>
              <a:rPr lang="en-US" b="1" dirty="0" smtClean="0"/>
              <a:t> </a:t>
            </a:r>
            <a:endParaRPr lang="en-US" b="1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057400" y="2590800"/>
            <a:ext cx="152268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Cloud 12"/>
          <p:cNvSpPr/>
          <p:nvPr/>
        </p:nvSpPr>
        <p:spPr>
          <a:xfrm rot="20794752">
            <a:off x="1285138" y="4996339"/>
            <a:ext cx="1633626" cy="1311497"/>
          </a:xfrm>
          <a:prstGeom prst="cloud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Block</a:t>
            </a:r>
          </a:p>
          <a:p>
            <a:pPr algn="ctr"/>
            <a:r>
              <a:rPr lang="en-US" b="1" dirty="0" smtClean="0"/>
              <a:t>Size Storage </a:t>
            </a:r>
            <a:r>
              <a:rPr lang="en-US" b="1" dirty="0"/>
              <a:t>2</a:t>
            </a:r>
            <a:r>
              <a:rPr lang="en-US" b="1" dirty="0" smtClean="0"/>
              <a:t>kb </a:t>
            </a:r>
            <a:endParaRPr lang="en-US" b="1" dirty="0"/>
          </a:p>
        </p:txBody>
      </p:sp>
      <p:cxnSp>
        <p:nvCxnSpPr>
          <p:cNvPr id="14" name="Straight Arrow Connector 13"/>
          <p:cNvCxnSpPr>
            <a:endCxn id="11" idx="1"/>
          </p:cNvCxnSpPr>
          <p:nvPr/>
        </p:nvCxnSpPr>
        <p:spPr>
          <a:xfrm flipV="1">
            <a:off x="2744518" y="3865880"/>
            <a:ext cx="1522682" cy="123952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8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0160" y="562070"/>
            <a:ext cx="891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Hadoop is composed of four key modules that work together: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295400"/>
            <a:ext cx="91440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Hadoop Distributed File System (HDFS) - The Storage Layer</a:t>
            </a:r>
            <a:endParaRPr lang="en-GB" b="1" dirty="0">
              <a:solidFill>
                <a:srgbClr val="0F1115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0160" y="1828800"/>
            <a:ext cx="8915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is the storage system of Hadoop</a:t>
            </a:r>
            <a:r>
              <a:rPr lang="en-GB" dirty="0" smtClean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How </a:t>
            </a:r>
            <a:r>
              <a:rPr lang="en-GB" b="1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works:</a:t>
            </a:r>
            <a:r>
              <a:rPr lang="en-GB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It breaks down huge files into smaller blocks (typically </a:t>
            </a:r>
            <a:r>
              <a:rPr lang="en-GB" dirty="0" smtClean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64MB, 128MB, </a:t>
            </a:r>
            <a:r>
              <a:rPr lang="en-GB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 256MB) and distributes and replicates these blocks across multiple machines in a cluster</a:t>
            </a:r>
            <a:r>
              <a:rPr lang="en-GB" dirty="0" smtClean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rgbClr val="0F1115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Key </a:t>
            </a:r>
            <a:r>
              <a:rPr lang="en-GB" b="1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Features:</a:t>
            </a:r>
            <a:endParaRPr lang="en-GB" dirty="0">
              <a:solidFill>
                <a:srgbClr val="0F1115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Fault Tolerance:</a:t>
            </a:r>
            <a:r>
              <a:rPr lang="en-GB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If one machine (or disk) fails, the data is still available on other machines because it's replicated. The system automatically handles this.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Scalability:</a:t>
            </a:r>
            <a:r>
              <a:rPr lang="en-GB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You can easily add more machines to the cluster to increase storage capacity.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Designed for Hardware Failure:</a:t>
            </a:r>
            <a:r>
              <a:rPr lang="en-GB" dirty="0">
                <a:solidFill>
                  <a:srgbClr val="0F111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It assumes that hardware failures are common and handles them gracefully.</a:t>
            </a:r>
            <a:endParaRPr lang="en-GB" b="0" i="0" dirty="0">
              <a:solidFill>
                <a:srgbClr val="0F1115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0" y="-1983"/>
            <a:ext cx="9144000" cy="549274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Cambria" panose="02040503050406030204" pitchFamily="18" charset="0"/>
              </a:rPr>
              <a:t>Four Main Modules of Hadoop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" name="AutoShape 4" descr="Output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9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580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GB" dirty="0">
              <a:solidFill>
                <a:srgbClr val="44444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00050" indent="-400050" fontAlgn="base">
              <a:buAutoNum type="romanLcPeriod"/>
            </a:pPr>
            <a:r>
              <a:rPr lang="en-GB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NameNode</a:t>
            </a:r>
            <a:endParaRPr lang="en-GB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also known as</a:t>
            </a:r>
            <a:r>
              <a:rPr lang="en-GB" i="1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i="1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Master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node. </a:t>
            </a:r>
            <a:r>
              <a:rPr lang="en-GB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NameNode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does not store actual data or 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dataset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GB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NameNode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stores Metadata, i.e., number of blocks, their location, on which Rack, which </a:t>
            </a:r>
            <a:r>
              <a:rPr lang="en-GB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data is stored, and other details. It consists of files and directories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fontAlgn="base"/>
            <a:endParaRPr lang="en-GB" dirty="0" smtClean="0">
              <a:solidFill>
                <a:srgbClr val="44444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GB" b="1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Tasks </a:t>
            </a:r>
            <a:r>
              <a:rPr lang="en-GB" b="1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HDFS </a:t>
            </a:r>
            <a:r>
              <a:rPr lang="en-GB" b="1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NameNode</a:t>
            </a:r>
            <a:endParaRPr lang="en-GB" dirty="0">
              <a:solidFill>
                <a:srgbClr val="44444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Manage file system namespace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., Regulates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client’s access to 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files, Executes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file system execution such as naming, closing, opening files and directories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fontAlgn="base"/>
            <a:endParaRPr lang="en-GB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GB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ii</a:t>
            </a:r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GB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endParaRPr lang="en-GB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also known as </a:t>
            </a:r>
            <a:r>
              <a:rPr lang="en-GB" i="1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Slave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HDFS </a:t>
            </a:r>
            <a:r>
              <a:rPr lang="en-GB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responsible for storing actual data in HDFS. </a:t>
            </a:r>
            <a:r>
              <a:rPr lang="en-GB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performs </a:t>
            </a:r>
            <a:r>
              <a:rPr lang="en-GB" b="1" u="sng" dirty="0">
                <a:solidFill>
                  <a:srgbClr val="65ABF6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read and write </a:t>
            </a:r>
            <a:r>
              <a:rPr lang="en-GB" b="1" u="sng" dirty="0" smtClean="0">
                <a:solidFill>
                  <a:srgbClr val="65ABF6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operation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as per the request of the clients. Replica block of </a:t>
            </a:r>
            <a:r>
              <a:rPr lang="en-GB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consists of 2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files on the file system. </a:t>
            </a:r>
            <a:endParaRPr lang="en-GB" dirty="0" smtClean="0">
              <a:solidFill>
                <a:srgbClr val="44444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endParaRPr lang="en-GB" dirty="0" smtClean="0">
              <a:solidFill>
                <a:srgbClr val="44444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GB" b="1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Tasks </a:t>
            </a:r>
            <a:r>
              <a:rPr lang="en-GB" b="1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HDFS </a:t>
            </a:r>
            <a:r>
              <a:rPr lang="en-GB" b="1" dirty="0" err="1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endParaRPr lang="en-GB" b="1" dirty="0" smtClean="0">
              <a:solidFill>
                <a:srgbClr val="44444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performs operations like block replica creation, deletion, and replication according to the instruction of </a:t>
            </a:r>
            <a:r>
              <a:rPr lang="en-GB" dirty="0" err="1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NameNode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DataNode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manages data storage of the </a:t>
            </a:r>
            <a:r>
              <a:rPr lang="en-GB" dirty="0" smtClean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 This </a:t>
            </a:r>
            <a:r>
              <a:rPr lang="en-GB" dirty="0">
                <a:solidFill>
                  <a:srgbClr val="44444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was all about HDFS as a Hadoop Ecosystem component.</a:t>
            </a:r>
            <a:endParaRPr lang="en-GB" b="0" i="0" dirty="0">
              <a:solidFill>
                <a:srgbClr val="444444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10160" y="0"/>
            <a:ext cx="9144000" cy="549274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>
                <a:latin typeface="Cambria" panose="02040503050406030204" pitchFamily="18" charset="0"/>
              </a:rPr>
              <a:t>HDFS Components</a:t>
            </a:r>
            <a:endParaRPr lang="en-US" sz="2800" b="1" dirty="0">
              <a:latin typeface="Cambria" panose="0204050305040603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38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22280"/>
            <a:ext cx="9067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Yet Another Resource Negotiator (YARN)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- The Resource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Manager</a:t>
            </a:r>
          </a:p>
          <a:p>
            <a:pPr algn="just"/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YARN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is the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brain of the Hadoop ecosystem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managing the cluster's resources and job scheduling.</a:t>
            </a:r>
          </a:p>
          <a:p>
            <a:pPr algn="just"/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How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it works: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It acts as an operating system for Hadoop. When a user submits a data processing job, YARN allocates the necessary resources (CPU, memory) from the cluster to the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application.</a:t>
            </a:r>
          </a:p>
          <a:p>
            <a:pPr algn="just"/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Key Function: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It separates the responsibilities of resource management from the data processing logic, making Hadoop more efficient and allowing it to run a variety of processing frameworks (like Spark, </a:t>
            </a: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Tez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, etc.), not just the original MapReduce.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0" y="-1983"/>
            <a:ext cx="9144000" cy="549274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>
                <a:latin typeface="Cambria" panose="02040503050406030204" pitchFamily="18" charset="0"/>
              </a:rPr>
              <a:t>2. Yet </a:t>
            </a:r>
            <a:r>
              <a:rPr lang="en-GB" sz="2800" b="1" dirty="0">
                <a:latin typeface="Cambria" panose="02040503050406030204" pitchFamily="18" charset="0"/>
              </a:rPr>
              <a:t>Another Resource Negotiator (YARN) </a:t>
            </a:r>
            <a:endParaRPr lang="en-US" sz="2800" b="1" dirty="0">
              <a:latin typeface="Cambria" panose="020405030504060302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429000"/>
            <a:ext cx="5067300" cy="29559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08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09600"/>
            <a:ext cx="89916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This is a programming model for processing large datasets in parallel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How it works: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 It works in two stages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Map Stage: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 takes a set of data and converts it into another set of data, where individual elements are broken down into tuples (key/value pairs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pPr lvl="1"/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Reduce Stage: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Takes the output from the Map stage, shuffles and sorts it, and then aggregates the results to produce the final output.</a:t>
            </a:r>
          </a:p>
          <a:p>
            <a:pPr lvl="1"/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MapReduce</a:t>
            </a:r>
          </a:p>
          <a:p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Simplicity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– MapReduce jobs are easy to run. Applications can be written in any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language, such 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as Java, C++, and Python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Scalability –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MapReduce can process petabytes of data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Speed –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By means of parallel processing problems that take days to solve, it is solved in hours and minutes by MapReduce.</a:t>
            </a:r>
          </a:p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Fault Tolerance –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MapReduce takes care of failures. If one copy of data is unavailable, another machine has a copy of the same key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pair,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which can be used for solving the same subtask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Note</a:t>
            </a:r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GB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While foundational, MapReduce is often replaced today by faster frameworks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like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Apache Spark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which can run on top of Hadoop's YARN and HDFS.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0" y="-1983"/>
            <a:ext cx="9144000" cy="549274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latin typeface="Cambria" panose="02040503050406030204" pitchFamily="18" charset="0"/>
              </a:rPr>
              <a:t>3. </a:t>
            </a:r>
            <a:r>
              <a:rPr lang="en-GB" sz="2800" b="1" dirty="0" smtClean="0">
                <a:latin typeface="Cambria" panose="02040503050406030204" pitchFamily="18" charset="0"/>
              </a:rPr>
              <a:t>MapReduce </a:t>
            </a:r>
            <a:r>
              <a:rPr lang="en-GB" sz="2800" b="1" dirty="0">
                <a:latin typeface="Cambria" panose="02040503050406030204" pitchFamily="18" charset="0"/>
              </a:rPr>
              <a:t>- The Processing Model </a:t>
            </a:r>
            <a:endParaRPr lang="en-US" sz="2800" b="1" dirty="0">
              <a:latin typeface="Cambria" panose="020405030504060302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04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0" y="-1983"/>
            <a:ext cx="9144000" cy="549274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>
                <a:latin typeface="Cambria" panose="02040503050406030204" pitchFamily="18" charset="0"/>
              </a:rPr>
              <a:t>4. </a:t>
            </a:r>
            <a:r>
              <a:rPr lang="en-GB" sz="2800" b="1" dirty="0">
                <a:latin typeface="Cambria" panose="02040503050406030204" pitchFamily="18" charset="0"/>
              </a:rPr>
              <a:t>Hadoop Common</a:t>
            </a:r>
            <a:endParaRPr lang="en-US" sz="2800" b="1" dirty="0">
              <a:latin typeface="Cambria" panose="020405030504060302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" y="762000"/>
            <a:ext cx="8610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 foundation of the entire Hadoop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Provides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common utilities, libraries, and Java APIs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needed by other Hadoop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Includes components like configuration files, I/O utilities, RPC (Remote Procedure Call), and serialization libraries.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Basically, it ensures that the other Hadoop modules can work together seamlessly.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51886"/>
            <a:ext cx="6604000" cy="39624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60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09600"/>
            <a:ext cx="7543800" cy="31242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962400"/>
            <a:ext cx="7543800" cy="280952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0472" y="0"/>
            <a:ext cx="912352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</a:rPr>
              <a:t>Hadoop2.x Architecture &amp; Hadoop  Component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1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</a:rPr>
              <a:t>Hadoop Ecosystem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5080" y="6488668"/>
            <a:ext cx="922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Hadoop Ecosystem and Their Components - A Complete Tutorial - </a:t>
            </a:r>
            <a:r>
              <a:rPr lang="en-GB" dirty="0" err="1">
                <a:hlinkClick r:id="rId2"/>
              </a:rPr>
              <a:t>DataFlair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43000"/>
            <a:ext cx="864335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19336"/>
            <a:ext cx="9410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Top 15 Hadoop Analytics Tools for 2025 – Take a Dive into Analytics - </a:t>
            </a:r>
            <a:r>
              <a:rPr lang="en-GB" dirty="0" err="1">
                <a:hlinkClick r:id="rId4"/>
              </a:rPr>
              <a:t>DataFlair</a:t>
            </a:r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6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914400"/>
            <a:ext cx="5640324" cy="55153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</a:rPr>
              <a:t>Hadoop Ecosystem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14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903224"/>
              </p:ext>
            </p:extLst>
          </p:nvPr>
        </p:nvGraphicFramePr>
        <p:xfrm>
          <a:off x="762000" y="1457592"/>
          <a:ext cx="5867400" cy="30902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462728">
                  <a:extLst>
                    <a:ext uri="{9D8B030D-6E8A-4147-A177-3AD203B41FA5}">
                      <a16:colId xmlns:a16="http://schemas.microsoft.com/office/drawing/2014/main" val="2059223421"/>
                    </a:ext>
                  </a:extLst>
                </a:gridCol>
                <a:gridCol w="2404672">
                  <a:extLst>
                    <a:ext uri="{9D8B030D-6E8A-4147-A177-3AD203B41FA5}">
                      <a16:colId xmlns:a16="http://schemas.microsoft.com/office/drawing/2014/main" val="1174115567"/>
                    </a:ext>
                  </a:extLst>
                </a:gridCol>
              </a:tblGrid>
              <a:tr h="597866"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 how are you</a:t>
                      </a:r>
                    </a:p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is your job 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64MB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981655"/>
                  </a:ext>
                </a:extLst>
              </a:tr>
              <a:tr h="895067"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is your family</a:t>
                      </a:r>
                    </a:p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is your brother 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64MB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0263496"/>
                  </a:ext>
                </a:extLst>
              </a:tr>
              <a:tr h="89506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is your sister</a:t>
                      </a:r>
                    </a:p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what is the time now 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64MB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3351869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what is the strength of </a:t>
                      </a:r>
                      <a:r>
                        <a:rPr lang="en-IN" sz="1800" b="1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hadoop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8MB</a:t>
                      </a:r>
                      <a:endParaRPr lang="en-IN" sz="18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226019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1000" y="47244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Input File Formats :</a:t>
            </a:r>
          </a:p>
          <a:p>
            <a:pPr>
              <a:buFont typeface="+mj-lt"/>
              <a:buAutoNum type="arabicPeriod"/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TextInputFormat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KeyValueTextInputFormat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SequenceFileInputFormat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15" y="911667"/>
            <a:ext cx="2100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input.txt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(200MB)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</a:rPr>
              <a:t>Map Reduce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80" y="507755"/>
            <a:ext cx="282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WordCount</a:t>
            </a: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Job/Program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9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590534"/>
              </p:ext>
            </p:extLst>
          </p:nvPr>
        </p:nvGraphicFramePr>
        <p:xfrm>
          <a:off x="10160" y="806421"/>
          <a:ext cx="8923020" cy="21945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974340">
                  <a:extLst>
                    <a:ext uri="{9D8B030D-6E8A-4147-A177-3AD203B41FA5}">
                      <a16:colId xmlns:a16="http://schemas.microsoft.com/office/drawing/2014/main" val="3067138695"/>
                    </a:ext>
                  </a:extLst>
                </a:gridCol>
                <a:gridCol w="2974340">
                  <a:extLst>
                    <a:ext uri="{9D8B030D-6E8A-4147-A177-3AD203B41FA5}">
                      <a16:colId xmlns:a16="http://schemas.microsoft.com/office/drawing/2014/main" val="50691163"/>
                    </a:ext>
                  </a:extLst>
                </a:gridCol>
                <a:gridCol w="2974340">
                  <a:extLst>
                    <a:ext uri="{9D8B030D-6E8A-4147-A177-3AD203B41FA5}">
                      <a16:colId xmlns:a16="http://schemas.microsoft.com/office/drawing/2014/main" val="3560297814"/>
                    </a:ext>
                  </a:extLst>
                </a:gridCol>
              </a:tblGrid>
              <a:tr h="328570">
                <a:tc>
                  <a:txBody>
                    <a:bodyPr/>
                    <a:lstStyle/>
                    <a:p>
                      <a:r>
                        <a:rPr lang="en-IN" sz="1800" b="1" dirty="0"/>
                        <a:t>Wrapper classes (in Java)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Primitive types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Box classes (in Hadoop)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2308"/>
                  </a:ext>
                </a:extLst>
              </a:tr>
              <a:tr h="321642">
                <a:tc>
                  <a:txBody>
                    <a:bodyPr/>
                    <a:lstStyle/>
                    <a:p>
                      <a:r>
                        <a:rPr lang="en-IN" sz="180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int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IntWritable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521425"/>
                  </a:ext>
                </a:extLst>
              </a:tr>
              <a:tr h="321642">
                <a:tc>
                  <a:txBody>
                    <a:bodyPr/>
                    <a:lstStyle/>
                    <a:p>
                      <a:r>
                        <a:rPr lang="en-IN" sz="1800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LongWritable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948097"/>
                  </a:ext>
                </a:extLst>
              </a:tr>
              <a:tr h="321642">
                <a:tc>
                  <a:txBody>
                    <a:bodyPr/>
                    <a:lstStyle/>
                    <a:p>
                      <a:r>
                        <a:rPr lang="en-IN" sz="180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FloatWritable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9828315"/>
                  </a:ext>
                </a:extLst>
              </a:tr>
              <a:tr h="321642">
                <a:tc>
                  <a:txBody>
                    <a:bodyPr/>
                    <a:lstStyle/>
                    <a:p>
                      <a:r>
                        <a:rPr lang="en-IN" sz="180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DoubleWritable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448340"/>
                  </a:ext>
                </a:extLst>
              </a:tr>
              <a:tr h="321642">
                <a:tc>
                  <a:txBody>
                    <a:bodyPr/>
                    <a:lstStyle/>
                    <a:p>
                      <a:r>
                        <a:rPr lang="en-IN" sz="18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26686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160" y="1786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</a:rPr>
              <a:t>Objective types used for (key, value) pairs:</a:t>
            </a:r>
          </a:p>
        </p:txBody>
      </p:sp>
      <p:sp>
        <p:nvSpPr>
          <p:cNvPr id="4" name="Rectangle 3"/>
          <p:cNvSpPr/>
          <p:nvPr/>
        </p:nvSpPr>
        <p:spPr>
          <a:xfrm>
            <a:off x="-35560" y="390173"/>
            <a:ext cx="876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Java data types are mapped to Hadoop Writable types</a:t>
            </a:r>
            <a:r>
              <a:rPr lang="en-GB" dirty="0"/>
              <a:t> for use in MapReduce jobs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0189" y="3035295"/>
            <a:ext cx="83388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42;  </a:t>
            </a:r>
          </a:p>
          <a:p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IntWritable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writableNum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IntWritable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);   // primitive → Hadoop box  </a:t>
            </a:r>
          </a:p>
          <a:p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backToPrimitive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writableNum.get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();          // Hadoop box → primitive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669" y="3882425"/>
            <a:ext cx="7937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long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bigNum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100000L;  </a:t>
            </a:r>
          </a:p>
          <a:p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LongWritable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writableLong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LongWritable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bigNum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);  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long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backToPrimitive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writableLong.get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944" y="4713422"/>
            <a:ext cx="8686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err="1"/>
              <a:t>boolean</a:t>
            </a:r>
            <a:r>
              <a:rPr lang="en-IN" sz="1600" dirty="0"/>
              <a:t> flag = true;  </a:t>
            </a:r>
          </a:p>
          <a:p>
            <a:r>
              <a:rPr lang="en-IN" sz="1600" dirty="0" err="1"/>
              <a:t>BooleanWritable</a:t>
            </a:r>
            <a:r>
              <a:rPr lang="en-IN" sz="1600" dirty="0"/>
              <a:t> </a:t>
            </a:r>
            <a:r>
              <a:rPr lang="en-IN" sz="1600" dirty="0" err="1"/>
              <a:t>writableBool</a:t>
            </a:r>
            <a:r>
              <a:rPr lang="en-IN" sz="1600" dirty="0"/>
              <a:t> = new </a:t>
            </a:r>
            <a:r>
              <a:rPr lang="en-IN" sz="1600" dirty="0" err="1"/>
              <a:t>BooleanWritable</a:t>
            </a:r>
            <a:r>
              <a:rPr lang="en-IN" sz="1600" dirty="0"/>
              <a:t>(flag);  </a:t>
            </a:r>
          </a:p>
          <a:p>
            <a:r>
              <a:rPr lang="en-IN" sz="1600" dirty="0" err="1"/>
              <a:t>boolean</a:t>
            </a:r>
            <a:r>
              <a:rPr lang="en-IN" sz="1600" dirty="0"/>
              <a:t> </a:t>
            </a:r>
            <a:r>
              <a:rPr lang="en-IN" sz="1600" dirty="0" err="1"/>
              <a:t>backToPrimitive</a:t>
            </a:r>
            <a:r>
              <a:rPr lang="en-IN" sz="1600" dirty="0"/>
              <a:t> = </a:t>
            </a:r>
            <a:r>
              <a:rPr lang="en-IN" sz="1600" dirty="0" err="1"/>
              <a:t>writableBool.get</a:t>
            </a:r>
            <a:r>
              <a:rPr lang="en-IN" sz="1600" dirty="0"/>
              <a:t>();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439" y="5560552"/>
            <a:ext cx="91782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msg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"Hello Hadoop";  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Text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writableText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new Text(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msg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);  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backToPrimitive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writableText.toString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79222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944509"/>
              </p:ext>
            </p:extLst>
          </p:nvPr>
        </p:nvGraphicFramePr>
        <p:xfrm>
          <a:off x="285750" y="1295400"/>
          <a:ext cx="8572500" cy="3429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1891793254"/>
                    </a:ext>
                  </a:extLst>
                </a:gridCol>
                <a:gridCol w="2051538">
                  <a:extLst>
                    <a:ext uri="{9D8B030D-6E8A-4147-A177-3AD203B41FA5}">
                      <a16:colId xmlns:a16="http://schemas.microsoft.com/office/drawing/2014/main" val="902389866"/>
                    </a:ext>
                  </a:extLst>
                </a:gridCol>
                <a:gridCol w="2653812">
                  <a:extLst>
                    <a:ext uri="{9D8B030D-6E8A-4147-A177-3AD203B41FA5}">
                      <a16:colId xmlns:a16="http://schemas.microsoft.com/office/drawing/2014/main" val="19837679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6124218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Hadoop Box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Box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Back to Primitive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76742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IntWritable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IntWritable(i)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writable.get()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75096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LongWritable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LongWritable(l)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writable.get()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2055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FloatWritable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FloatWritable(f)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writable.get()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4422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DoubleWritable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DoubleWritable(d)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writable.get()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7635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BooleanWritable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BooleanWritable(b)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writable.get()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0249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ByteWritable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ByteWritable(b)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writable.get()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2127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Text(str)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writable.toString()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7164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NullWritable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NullWritable.get()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(no value)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48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489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52400"/>
            <a:ext cx="8534400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 err="1" smtClean="0"/>
              <a:t>TextInputFormat</a:t>
            </a:r>
            <a:r>
              <a:rPr lang="en-GB" b="1" dirty="0" smtClean="0"/>
              <a:t> (Default)</a:t>
            </a:r>
          </a:p>
          <a:p>
            <a:endParaRPr lang="en-GB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/>
              <a:t>Most commonly used</a:t>
            </a:r>
            <a:r>
              <a:rPr lang="en-GB" dirty="0" smtClean="0"/>
              <a:t> input format in Hadoop.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smtClean="0"/>
              <a:t>How it works:</a:t>
            </a: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Splits input files into lines.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Each line is treated as a record.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</a:t>
            </a:r>
            <a:r>
              <a:rPr lang="en-GB" b="1" dirty="0" smtClean="0"/>
              <a:t>key</a:t>
            </a:r>
            <a:r>
              <a:rPr lang="en-GB" dirty="0" smtClean="0"/>
              <a:t> = line’s byte offset in the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</a:t>
            </a:r>
            <a:r>
              <a:rPr lang="en-GB" b="1" dirty="0" smtClean="0"/>
              <a:t>value</a:t>
            </a:r>
            <a:r>
              <a:rPr lang="en-GB" dirty="0" smtClean="0"/>
              <a:t> = contents of the line (text).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 smtClean="0"/>
          </a:p>
        </p:txBody>
      </p:sp>
      <p:sp>
        <p:nvSpPr>
          <p:cNvPr id="3" name="Rectangle 2"/>
          <p:cNvSpPr/>
          <p:nvPr/>
        </p:nvSpPr>
        <p:spPr>
          <a:xfrm>
            <a:off x="381000" y="247317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Input Line: "hi how are you"</a:t>
            </a:r>
          </a:p>
          <a:p>
            <a:r>
              <a:rPr lang="en-IN" b="1" dirty="0"/>
              <a:t>Mapper Input: &lt;0, "hi how are you"&gt;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200" y="3119507"/>
            <a:ext cx="4479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/>
              <a:t>WordCount</a:t>
            </a:r>
            <a:r>
              <a:rPr lang="en-GB" dirty="0"/>
              <a:t> jobs, log processing, CSV/TSV files</a:t>
            </a:r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3718927"/>
            <a:ext cx="8458200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KeyValueTextInputFormat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Used when data is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structured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key-value pairs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separated by a delimiter (default = tab \t).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How it works: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Splits each line into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Left side of delimiter → key, right side → value.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name    </a:t>
            </a:r>
            <a:r>
              <a:rPr lang="en-GB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John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age     25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city    </a:t>
            </a:r>
            <a:r>
              <a:rPr lang="en-GB" alt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Surat</a:t>
            </a:r>
            <a:r>
              <a:rPr lang="en-GB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			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4600" y="576216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&lt;"name", "John"&gt;</a:t>
            </a:r>
          </a:p>
          <a:p>
            <a:r>
              <a:rPr lang="en-IN" b="1" dirty="0">
                <a:solidFill>
                  <a:srgbClr val="FF0000"/>
                </a:solidFill>
              </a:rPr>
              <a:t>&lt;"age", "25"&gt;</a:t>
            </a:r>
          </a:p>
          <a:p>
            <a:r>
              <a:rPr lang="en-IN" b="1" dirty="0">
                <a:solidFill>
                  <a:srgbClr val="FF0000"/>
                </a:solidFill>
              </a:rPr>
              <a:t>&lt;"city", "Surat"&gt;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4518209" y="5987042"/>
            <a:ext cx="43209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dirty="0" smtClean="0"/>
          </a:p>
          <a:p>
            <a:r>
              <a:rPr lang="en-GB" dirty="0" smtClean="0"/>
              <a:t>Use case: datasets </a:t>
            </a:r>
            <a:r>
              <a:rPr lang="en-GB" dirty="0"/>
              <a:t>already in key-value form</a:t>
            </a:r>
            <a:endParaRPr lang="en-IN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73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458200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GB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SequenceFileInputFormat</a:t>
            </a:r>
            <a:endParaRPr lang="en-GB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Hadoop’s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binary file format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Stores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serialized key-value pairs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in a compressed,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splittable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How it works: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Reads key-value pairs directly from binary sequence files.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More efficient than plain text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2554069"/>
            <a:ext cx="4572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IN" b="1" dirty="0"/>
              <a:t>&lt;1001, "hi how are you"&gt;</a:t>
            </a:r>
          </a:p>
          <a:p>
            <a:r>
              <a:rPr lang="en-IN" b="1" dirty="0"/>
              <a:t>&lt;1002, "how is your job"&gt;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560" y="3200400"/>
            <a:ext cx="8625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Intermediate data, machine learning datasets, and large-scale binary </a:t>
            </a:r>
            <a:r>
              <a:rPr lang="en-GB" dirty="0" smtClean="0"/>
              <a:t>storage</a:t>
            </a:r>
          </a:p>
          <a:p>
            <a:r>
              <a:rPr lang="en-GB" dirty="0"/>
              <a:t>images, serialized objects, feature </a:t>
            </a:r>
            <a:r>
              <a:rPr lang="en-GB" dirty="0" smtClean="0"/>
              <a:t>vectors</a:t>
            </a:r>
          </a:p>
          <a:p>
            <a:r>
              <a:rPr lang="en-GB" dirty="0"/>
              <a:t>Used in computer vision pipelines on Hadoop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33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155062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Input Split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667000" y="1155062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Input Split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5029200" y="1155062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Input Split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7162800" y="1155062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Input Split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457200" y="2351963"/>
            <a:ext cx="1600200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Record Reader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2667000" y="2351963"/>
            <a:ext cx="1600200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Record Reader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5029200" y="2351963"/>
            <a:ext cx="1600200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Record Reader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7162800" y="2351963"/>
            <a:ext cx="1600200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Record Reader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533400" y="3581400"/>
            <a:ext cx="1600200" cy="381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Mapper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2743200" y="3581400"/>
            <a:ext cx="1600200" cy="381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Mapper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5105400" y="3581400"/>
            <a:ext cx="1600200" cy="381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Mapper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7239000" y="3581400"/>
            <a:ext cx="1600200" cy="381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Mapper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457200" y="2746550"/>
            <a:ext cx="1752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byteoffest , line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(0,hi how are you)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(16,how is you job)</a:t>
            </a:r>
            <a:endParaRPr lang="en-US" sz="1400" b="1" dirty="0">
              <a:latin typeface="Cambria" panose="020405030504060302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38399" y="2765103"/>
            <a:ext cx="22860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byteoffest , line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(0,how is  you family)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(19,how is you brother)</a:t>
            </a:r>
            <a:endParaRPr lang="en-US" sz="1400" b="1" dirty="0">
              <a:latin typeface="Cambria" panose="020405030504060302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953000" y="2826814"/>
            <a:ext cx="2142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byteoffest , line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(0,how is you sister)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(19,what is time now)</a:t>
            </a:r>
            <a:endParaRPr lang="en-US" sz="1400" b="1" dirty="0">
              <a:latin typeface="Cambria" panose="020405030504060302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00331" y="2818557"/>
            <a:ext cx="1752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byteoffest , line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(0,what is strength of hadoop)</a:t>
            </a:r>
          </a:p>
        </p:txBody>
      </p:sp>
      <p:cxnSp>
        <p:nvCxnSpPr>
          <p:cNvPr id="48" name="Straight Arrow Connector 47"/>
          <p:cNvCxnSpPr>
            <a:stCxn id="43" idx="0"/>
            <a:endCxn id="11" idx="0"/>
          </p:cNvCxnSpPr>
          <p:nvPr/>
        </p:nvCxnSpPr>
        <p:spPr>
          <a:xfrm>
            <a:off x="1333500" y="2746550"/>
            <a:ext cx="0" cy="834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429000" y="2765103"/>
            <a:ext cx="0" cy="8162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877634" y="2743200"/>
            <a:ext cx="0" cy="822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962895" y="2718179"/>
            <a:ext cx="0" cy="8472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57200" y="152401"/>
            <a:ext cx="8305800" cy="533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Input.txt(200MB</a:t>
            </a:r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)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1006068" y="683526"/>
            <a:ext cx="7093766" cy="501060"/>
            <a:chOff x="1006068" y="683526"/>
            <a:chExt cx="7093766" cy="865496"/>
          </a:xfrm>
        </p:grpSpPr>
        <p:sp>
          <p:nvSpPr>
            <p:cNvPr id="64" name="Down Arrow 63"/>
            <p:cNvSpPr/>
            <p:nvPr/>
          </p:nvSpPr>
          <p:spPr>
            <a:xfrm>
              <a:off x="1006068" y="685801"/>
              <a:ext cx="273866" cy="838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Down Arrow 64"/>
            <p:cNvSpPr/>
            <p:nvPr/>
          </p:nvSpPr>
          <p:spPr>
            <a:xfrm>
              <a:off x="3330168" y="683526"/>
              <a:ext cx="273866" cy="838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Down Arrow 65"/>
            <p:cNvSpPr/>
            <p:nvPr/>
          </p:nvSpPr>
          <p:spPr>
            <a:xfrm>
              <a:off x="5692368" y="683527"/>
              <a:ext cx="273866" cy="838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Down Arrow 66"/>
            <p:cNvSpPr/>
            <p:nvPr/>
          </p:nvSpPr>
          <p:spPr>
            <a:xfrm>
              <a:off x="7825968" y="710822"/>
              <a:ext cx="273866" cy="838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800108" y="1492650"/>
            <a:ext cx="7505692" cy="869550"/>
            <a:chOff x="838202" y="1873651"/>
            <a:chExt cx="7505692" cy="869550"/>
          </a:xfrm>
        </p:grpSpPr>
        <p:grpSp>
          <p:nvGrpSpPr>
            <p:cNvPr id="39" name="Group 38"/>
            <p:cNvGrpSpPr/>
            <p:nvPr/>
          </p:nvGrpSpPr>
          <p:grpSpPr>
            <a:xfrm>
              <a:off x="7504561" y="1888437"/>
              <a:ext cx="839333" cy="844529"/>
              <a:chOff x="5334000" y="1861140"/>
              <a:chExt cx="839333" cy="844529"/>
            </a:xfrm>
          </p:grpSpPr>
          <p:sp>
            <p:nvSpPr>
              <p:cNvPr id="29" name="Curved Down Arrow 28"/>
              <p:cNvSpPr/>
              <p:nvPr/>
            </p:nvSpPr>
            <p:spPr>
              <a:xfrm rot="16200000">
                <a:off x="5102236" y="2092904"/>
                <a:ext cx="844528" cy="380999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Curved Down Arrow 29"/>
              <p:cNvSpPr/>
              <p:nvPr/>
            </p:nvSpPr>
            <p:spPr>
              <a:xfrm rot="5400000">
                <a:off x="5586160" y="2118495"/>
                <a:ext cx="793348" cy="380999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5486400" y="1898671"/>
              <a:ext cx="839333" cy="844529"/>
              <a:chOff x="5334000" y="1861140"/>
              <a:chExt cx="839333" cy="844529"/>
            </a:xfrm>
          </p:grpSpPr>
          <p:sp>
            <p:nvSpPr>
              <p:cNvPr id="41" name="Curved Down Arrow 40"/>
              <p:cNvSpPr/>
              <p:nvPr/>
            </p:nvSpPr>
            <p:spPr>
              <a:xfrm rot="16200000">
                <a:off x="5102236" y="2092904"/>
                <a:ext cx="844528" cy="380999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Curved Down Arrow 41"/>
              <p:cNvSpPr/>
              <p:nvPr/>
            </p:nvSpPr>
            <p:spPr>
              <a:xfrm rot="5400000">
                <a:off x="5586160" y="2118495"/>
                <a:ext cx="793348" cy="380999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2988866" y="1873651"/>
              <a:ext cx="819999" cy="844530"/>
              <a:chOff x="2988866" y="1873651"/>
              <a:chExt cx="819999" cy="844530"/>
            </a:xfrm>
          </p:grpSpPr>
          <p:sp>
            <p:nvSpPr>
              <p:cNvPr id="77" name="Curved Down Arrow 76"/>
              <p:cNvSpPr/>
              <p:nvPr/>
            </p:nvSpPr>
            <p:spPr>
              <a:xfrm rot="5400000">
                <a:off x="3221692" y="2131007"/>
                <a:ext cx="793348" cy="380999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Curved Down Arrow 77"/>
              <p:cNvSpPr/>
              <p:nvPr/>
            </p:nvSpPr>
            <p:spPr>
              <a:xfrm rot="16200000">
                <a:off x="2737770" y="2124747"/>
                <a:ext cx="844528" cy="342336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838202" y="1873651"/>
              <a:ext cx="895064" cy="869550"/>
              <a:chOff x="838202" y="1873650"/>
              <a:chExt cx="895064" cy="869550"/>
            </a:xfrm>
          </p:grpSpPr>
          <p:sp>
            <p:nvSpPr>
              <p:cNvPr id="80" name="Curved Down Arrow 79"/>
              <p:cNvSpPr/>
              <p:nvPr/>
            </p:nvSpPr>
            <p:spPr>
              <a:xfrm rot="16200000">
                <a:off x="606438" y="2105414"/>
                <a:ext cx="844528" cy="380999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Curved Down Arrow 80"/>
              <p:cNvSpPr/>
              <p:nvPr/>
            </p:nvSpPr>
            <p:spPr>
              <a:xfrm rot="5400000">
                <a:off x="1165427" y="2175361"/>
                <a:ext cx="793348" cy="342330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6" name="TextBox 95"/>
          <p:cNvSpPr txBox="1"/>
          <p:nvPr/>
        </p:nvSpPr>
        <p:spPr>
          <a:xfrm>
            <a:off x="533400" y="4191000"/>
            <a:ext cx="8305800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Cambria" panose="02040503050406030204" pitchFamily="18" charset="0"/>
              </a:rPr>
              <a:t>(hi,1)  (how,1)	         (how,1) (how,1)		(how,1) (what,1)	(what,1)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(how,1) (is,1)	         (is,1) (is,1)	                        (is,1)      (is,1)	(is,1)	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(are,1) (you,1)	          (you,1) (you,1)		 (you,1)  (time,1)	(strength,1)</a:t>
            </a:r>
          </a:p>
          <a:p>
            <a:r>
              <a:rPr lang="en-US" sz="1400" b="1" dirty="0" smtClean="0">
                <a:latin typeface="Cambria" panose="02040503050406030204" pitchFamily="18" charset="0"/>
              </a:rPr>
              <a:t>(you,1) (job,1)	          (family,1)(brother,1)	 (sister,1) (now,1)          (of,1)</a:t>
            </a:r>
          </a:p>
          <a:p>
            <a:r>
              <a:rPr lang="en-US" sz="1400" b="1" dirty="0">
                <a:latin typeface="Cambria" panose="02040503050406030204" pitchFamily="18" charset="0"/>
              </a:rPr>
              <a:t>	</a:t>
            </a:r>
            <a:r>
              <a:rPr lang="en-US" sz="1400" b="1" dirty="0" smtClean="0">
                <a:latin typeface="Cambria" panose="02040503050406030204" pitchFamily="18" charset="0"/>
              </a:rPr>
              <a:t>						(hadoop,1)</a:t>
            </a:r>
            <a:endParaRPr lang="en-US" sz="1400" b="1" dirty="0">
              <a:latin typeface="Cambria" panose="020405030504060302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001000" y="4552890"/>
            <a:ext cx="1143000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rgbClr val="FF0000"/>
                </a:solidFill>
              </a:rPr>
              <a:t>Shuffling Sorting</a:t>
            </a:r>
          </a:p>
          <a:p>
            <a:r>
              <a:rPr lang="en-US" sz="1000" b="1" dirty="0" smtClean="0">
                <a:solidFill>
                  <a:srgbClr val="FF0000"/>
                </a:solidFill>
              </a:rPr>
              <a:t>(how,[1,1,1,1,1])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100" name="Down Arrow 99"/>
          <p:cNvSpPr/>
          <p:nvPr/>
        </p:nvSpPr>
        <p:spPr>
          <a:xfrm>
            <a:off x="1219200" y="3962400"/>
            <a:ext cx="167866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Down Arrow 100"/>
          <p:cNvSpPr/>
          <p:nvPr/>
        </p:nvSpPr>
        <p:spPr>
          <a:xfrm>
            <a:off x="3330168" y="3962400"/>
            <a:ext cx="167866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Down Arrow 101"/>
          <p:cNvSpPr/>
          <p:nvPr/>
        </p:nvSpPr>
        <p:spPr>
          <a:xfrm>
            <a:off x="5821567" y="3978322"/>
            <a:ext cx="167866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Down Arrow 102"/>
          <p:cNvSpPr/>
          <p:nvPr/>
        </p:nvSpPr>
        <p:spPr>
          <a:xfrm>
            <a:off x="7897516" y="3962400"/>
            <a:ext cx="167866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/>
          <p:cNvSpPr/>
          <p:nvPr/>
        </p:nvSpPr>
        <p:spPr>
          <a:xfrm>
            <a:off x="4572000" y="5360552"/>
            <a:ext cx="152400" cy="1258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3383167" y="5486400"/>
            <a:ext cx="2560433" cy="3810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</a:rPr>
              <a:t>Reducer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429000" y="5943600"/>
            <a:ext cx="2560433" cy="38100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</a:rPr>
              <a:t>Record Writer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429000" y="6400800"/>
            <a:ext cx="2560433" cy="38100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</a:rPr>
              <a:t>output file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16" name="Down Arrow 115"/>
          <p:cNvSpPr/>
          <p:nvPr/>
        </p:nvSpPr>
        <p:spPr>
          <a:xfrm>
            <a:off x="4572000" y="5867400"/>
            <a:ext cx="152400" cy="76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own Arrow 116"/>
          <p:cNvSpPr/>
          <p:nvPr/>
        </p:nvSpPr>
        <p:spPr>
          <a:xfrm>
            <a:off x="4572000" y="6324600"/>
            <a:ext cx="152400" cy="76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6629400" y="5410200"/>
            <a:ext cx="209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Intermediate data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8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78" y="248749"/>
            <a:ext cx="7391400" cy="35336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438" y="5574268"/>
            <a:ext cx="80975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Hadoop Ecosystem and Their Components - A Complete Tutorial - </a:t>
            </a:r>
            <a:r>
              <a:rPr lang="en-GB" dirty="0" err="1">
                <a:hlinkClick r:id="rId3"/>
              </a:rPr>
              <a:t>DataFlair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5438" y="5943600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Hadoop Tutorial For Beginners | Hadoop Crash Course | Learn Hadoop From Scratch | </a:t>
            </a:r>
            <a:r>
              <a:rPr lang="en-IN" dirty="0" err="1">
                <a:hlinkClick r:id="rId4"/>
              </a:rPr>
              <a:t>Simplilearn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5438" y="3958441"/>
            <a:ext cx="8696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Combiner </a:t>
            </a:r>
            <a:r>
              <a:rPr lang="en-GB" dirty="0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 also known as “Mini-Reducer</a:t>
            </a:r>
            <a:r>
              <a:rPr lang="en-GB" dirty="0" smtClean="0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”.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 of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combiner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decreases the time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taken for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 transfer between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mapper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reducer. </a:t>
            </a:r>
            <a:r>
              <a:rPr lang="en-GB" dirty="0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  <a:r>
              <a:rPr lang="en-GB" dirty="0" smtClean="0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combiner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increases the overall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 of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reducer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reduces the amount of data that the reducer has to process.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542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295870"/>
            <a:ext cx="883920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/>
              <a:t>Shuffling:</a:t>
            </a:r>
          </a:p>
          <a:p>
            <a:r>
              <a:rPr lang="en-GB" dirty="0"/>
              <a:t>Shuffling is a phase on intermediate data to combine all values into a collection associated </a:t>
            </a:r>
            <a:r>
              <a:rPr lang="en-GB" dirty="0" smtClean="0"/>
              <a:t>with </a:t>
            </a:r>
            <a:r>
              <a:rPr lang="en-GB" dirty="0"/>
              <a:t>the same key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766657" y="1255236"/>
            <a:ext cx="1781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(how, [1,1,1,1,1])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350" y="1599168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(is, [1,1,1,1,1])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2438400"/>
            <a:ext cx="8839200" cy="31393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/>
              <a:t>Sorting :</a:t>
            </a:r>
          </a:p>
          <a:p>
            <a:r>
              <a:rPr lang="en-GB" dirty="0"/>
              <a:t>Sorting is another phase on intermediate data to sort all (key, value) pairs. Because of </a:t>
            </a:r>
            <a:r>
              <a:rPr lang="en-GB" dirty="0"/>
              <a:t>the shuffling phase, all unique keys will compare with each other and give </a:t>
            </a:r>
            <a:r>
              <a:rPr lang="en-GB" dirty="0"/>
              <a:t>output in some sorting order</a:t>
            </a:r>
            <a:r>
              <a:rPr lang="en-GB" dirty="0" smtClean="0"/>
              <a:t>.  Basically, </a:t>
            </a:r>
            <a:r>
              <a:rPr lang="en-GB" dirty="0"/>
              <a:t>this sorting will be done because of Box classes as we have seen….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 err="1" smtClean="0"/>
              <a:t>IntWritable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 err="1" smtClean="0"/>
              <a:t>LongWritable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 err="1" smtClean="0"/>
              <a:t>FloatWritable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 err="1" smtClean="0"/>
              <a:t>DoubleWritable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/>
              <a:t> Text</a:t>
            </a:r>
            <a:endParaRPr lang="en-GB" dirty="0"/>
          </a:p>
          <a:p>
            <a:r>
              <a:rPr lang="en-GB" b="1" dirty="0" smtClean="0"/>
              <a:t>All the above classes implemented the  </a:t>
            </a:r>
            <a:r>
              <a:rPr lang="en-GB" b="1" dirty="0"/>
              <a:t>Writable and </a:t>
            </a:r>
            <a:r>
              <a:rPr lang="en-GB" b="1" dirty="0" err="1"/>
              <a:t>WritableComparable</a:t>
            </a:r>
            <a:r>
              <a:rPr lang="en-GB" b="1" dirty="0"/>
              <a:t> interfaces so that they can compare with each other.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75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207" y="152400"/>
            <a:ext cx="8831993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Step 3: Sort </a:t>
            </a:r>
            <a:r>
              <a:rPr lang="en-IN" dirty="0" smtClean="0"/>
              <a:t>Phase : </a:t>
            </a:r>
            <a:r>
              <a:rPr lang="en-GB" dirty="0"/>
              <a:t>Keys are </a:t>
            </a:r>
            <a:r>
              <a:rPr lang="en-GB" b="1" dirty="0"/>
              <a:t>sorted</a:t>
            </a:r>
            <a:r>
              <a:rPr lang="en-GB" dirty="0"/>
              <a:t> (lexicographically by default</a:t>
            </a:r>
            <a:r>
              <a:rPr lang="en-GB" dirty="0" smtClean="0"/>
              <a:t>).</a:t>
            </a:r>
          </a:p>
          <a:p>
            <a:r>
              <a:rPr lang="en-IN" dirty="0"/>
              <a:t>	</a:t>
            </a:r>
            <a:r>
              <a:rPr lang="en-IN" dirty="0" smtClean="0"/>
              <a:t>(</a:t>
            </a:r>
            <a:r>
              <a:rPr lang="en-IN" dirty="0"/>
              <a:t>Hadoop, [1])</a:t>
            </a:r>
          </a:p>
          <a:p>
            <a:r>
              <a:rPr lang="en-IN" dirty="0" smtClean="0"/>
              <a:t>	(</a:t>
            </a:r>
            <a:r>
              <a:rPr lang="en-IN" dirty="0"/>
              <a:t>are, [1,1])</a:t>
            </a:r>
          </a:p>
          <a:p>
            <a:r>
              <a:rPr lang="en-IN" dirty="0" smtClean="0"/>
              <a:t>	(</a:t>
            </a:r>
            <a:r>
              <a:rPr lang="en-IN" dirty="0"/>
              <a:t>hi, [1,1])</a:t>
            </a:r>
          </a:p>
          <a:p>
            <a:r>
              <a:rPr lang="en-IN" dirty="0" smtClean="0"/>
              <a:t>	(</a:t>
            </a:r>
            <a:r>
              <a:rPr lang="en-IN" dirty="0"/>
              <a:t>how, [1,1,1])</a:t>
            </a:r>
          </a:p>
          <a:p>
            <a:r>
              <a:rPr lang="en-IN" dirty="0" smtClean="0"/>
              <a:t>	(</a:t>
            </a:r>
            <a:r>
              <a:rPr lang="en-IN" dirty="0"/>
              <a:t>is, [1])</a:t>
            </a:r>
          </a:p>
          <a:p>
            <a:r>
              <a:rPr lang="en-IN" dirty="0" smtClean="0"/>
              <a:t>	(</a:t>
            </a:r>
            <a:r>
              <a:rPr lang="en-IN" dirty="0"/>
              <a:t>you, [1,1</a:t>
            </a:r>
            <a:r>
              <a:rPr lang="en-IN" dirty="0" smtClean="0"/>
              <a:t>])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59607" y="2235875"/>
            <a:ext cx="8831993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Step 4: Reduce </a:t>
            </a:r>
            <a:r>
              <a:rPr lang="en-IN" dirty="0" smtClean="0"/>
              <a:t>Phase : </a:t>
            </a:r>
            <a:r>
              <a:rPr lang="en-GB" dirty="0"/>
              <a:t>Reducer aggregates values for each key</a:t>
            </a:r>
            <a:r>
              <a:rPr lang="en-GB" dirty="0" smtClean="0"/>
              <a:t>.</a:t>
            </a:r>
          </a:p>
          <a:p>
            <a:r>
              <a:rPr lang="en-IN" dirty="0" smtClean="0"/>
              <a:t>	(</a:t>
            </a:r>
            <a:r>
              <a:rPr lang="en-IN" dirty="0"/>
              <a:t>Hadoop,1)</a:t>
            </a:r>
          </a:p>
          <a:p>
            <a:r>
              <a:rPr lang="en-IN" dirty="0" smtClean="0"/>
              <a:t>	(</a:t>
            </a:r>
            <a:r>
              <a:rPr lang="en-IN" dirty="0"/>
              <a:t>are,2)</a:t>
            </a:r>
          </a:p>
          <a:p>
            <a:r>
              <a:rPr lang="en-IN" dirty="0" smtClean="0"/>
              <a:t>	(</a:t>
            </a:r>
            <a:r>
              <a:rPr lang="en-IN" dirty="0"/>
              <a:t>hi,2)</a:t>
            </a:r>
          </a:p>
          <a:p>
            <a:r>
              <a:rPr lang="en-IN" dirty="0" smtClean="0"/>
              <a:t>	(</a:t>
            </a:r>
            <a:r>
              <a:rPr lang="en-IN" dirty="0"/>
              <a:t>how,3)</a:t>
            </a:r>
          </a:p>
          <a:p>
            <a:r>
              <a:rPr lang="en-IN" dirty="0" smtClean="0"/>
              <a:t>	(</a:t>
            </a:r>
            <a:r>
              <a:rPr lang="en-IN" dirty="0"/>
              <a:t>is,1)</a:t>
            </a:r>
          </a:p>
          <a:p>
            <a:r>
              <a:rPr lang="en-IN" dirty="0" smtClean="0"/>
              <a:t>	(</a:t>
            </a:r>
            <a:r>
              <a:rPr lang="en-IN" dirty="0"/>
              <a:t>you,2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34206" y="4321076"/>
            <a:ext cx="8704993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 smtClean="0"/>
              <a:t>Step 5: Final </a:t>
            </a:r>
            <a:r>
              <a:rPr lang="en-IN" dirty="0" err="1" smtClean="0"/>
              <a:t>WordCount</a:t>
            </a:r>
            <a:r>
              <a:rPr lang="en-IN" dirty="0" smtClean="0"/>
              <a:t> </a:t>
            </a:r>
            <a:r>
              <a:rPr lang="en-IN" dirty="0" smtClean="0"/>
              <a:t>Output</a:t>
            </a:r>
          </a:p>
          <a:p>
            <a:r>
              <a:rPr lang="en-IN" dirty="0" smtClean="0"/>
              <a:t>	Hadoop   </a:t>
            </a:r>
            <a:r>
              <a:rPr lang="en-IN" dirty="0"/>
              <a:t>1</a:t>
            </a:r>
          </a:p>
          <a:p>
            <a:r>
              <a:rPr lang="en-IN" dirty="0" smtClean="0"/>
              <a:t>	are      </a:t>
            </a:r>
            <a:r>
              <a:rPr lang="en-IN" dirty="0"/>
              <a:t>2</a:t>
            </a:r>
          </a:p>
          <a:p>
            <a:r>
              <a:rPr lang="en-IN" dirty="0" smtClean="0"/>
              <a:t>	hi       </a:t>
            </a:r>
            <a:r>
              <a:rPr lang="en-IN" dirty="0"/>
              <a:t>2</a:t>
            </a:r>
          </a:p>
          <a:p>
            <a:r>
              <a:rPr lang="en-IN" dirty="0" smtClean="0"/>
              <a:t>	how      </a:t>
            </a:r>
            <a:r>
              <a:rPr lang="en-IN" dirty="0"/>
              <a:t>3</a:t>
            </a:r>
          </a:p>
          <a:p>
            <a:r>
              <a:rPr lang="en-IN" dirty="0" smtClean="0"/>
              <a:t>	is       </a:t>
            </a:r>
            <a:r>
              <a:rPr lang="en-IN" dirty="0"/>
              <a:t>1</a:t>
            </a:r>
          </a:p>
          <a:p>
            <a:r>
              <a:rPr lang="en-IN" dirty="0" smtClean="0"/>
              <a:t>	you      </a:t>
            </a:r>
            <a:r>
              <a:rPr lang="en-IN" dirty="0"/>
              <a:t>2</a:t>
            </a:r>
          </a:p>
          <a:p>
            <a:endParaRPr lang="en-IN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73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" y="0"/>
            <a:ext cx="906780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Hadoop Distribute File System command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57200"/>
            <a:ext cx="9057564" cy="59708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$hadoop </a:t>
            </a:r>
            <a:r>
              <a:rPr lang="en-US" b="1" dirty="0" err="1" smtClean="0">
                <a:solidFill>
                  <a:schemeClr val="tx1"/>
                </a:solidFill>
              </a:rPr>
              <a:t>fs</a:t>
            </a:r>
            <a:r>
              <a:rPr lang="en-US" b="1" dirty="0" smtClean="0">
                <a:solidFill>
                  <a:schemeClr val="tx1"/>
                </a:solidFill>
              </a:rPr>
              <a:t>   -</a:t>
            </a:r>
            <a:r>
              <a:rPr lang="en-US" b="1" dirty="0" err="1" smtClean="0">
                <a:solidFill>
                  <a:schemeClr val="tx1"/>
                </a:solidFill>
              </a:rPr>
              <a:t>ls</a:t>
            </a:r>
            <a:r>
              <a:rPr lang="en-US" b="1" dirty="0" smtClean="0">
                <a:solidFill>
                  <a:schemeClr val="tx1"/>
                </a:solidFill>
              </a:rPr>
              <a:t> 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</a:t>
            </a:r>
            <a:r>
              <a:rPr lang="en-US" b="1" dirty="0" err="1" smtClean="0">
                <a:solidFill>
                  <a:schemeClr val="tx1"/>
                </a:solidFill>
              </a:rPr>
              <a:t>mkdir</a:t>
            </a:r>
            <a:r>
              <a:rPr lang="en-US" b="1" dirty="0" smtClean="0">
                <a:solidFill>
                  <a:schemeClr val="tx1"/>
                </a:solidFill>
              </a:rPr>
              <a:t>   &lt;directory&gt;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-put   &lt;local </a:t>
            </a:r>
            <a:r>
              <a:rPr lang="en-US" b="1" dirty="0" err="1" smtClean="0">
                <a:solidFill>
                  <a:schemeClr val="tx1"/>
                </a:solidFill>
              </a:rPr>
              <a:t>src</a:t>
            </a:r>
            <a:r>
              <a:rPr lang="en-US" b="1" dirty="0" smtClean="0">
                <a:solidFill>
                  <a:schemeClr val="tx1"/>
                </a:solidFill>
              </a:rPr>
              <a:t> directory&gt;  &lt;hdfs des directory&gt;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</a:t>
            </a:r>
            <a:r>
              <a:rPr lang="en-US" b="1" dirty="0" err="1" smtClean="0">
                <a:solidFill>
                  <a:schemeClr val="tx1"/>
                </a:solidFill>
              </a:rPr>
              <a:t>copyFromLocal</a:t>
            </a:r>
            <a:r>
              <a:rPr lang="en-US" b="1" dirty="0" smtClean="0">
                <a:solidFill>
                  <a:schemeClr val="tx1"/>
                </a:solidFill>
              </a:rPr>
              <a:t>   &lt;local </a:t>
            </a:r>
            <a:r>
              <a:rPr lang="en-US" b="1" dirty="0" err="1" smtClean="0">
                <a:solidFill>
                  <a:schemeClr val="tx1"/>
                </a:solidFill>
              </a:rPr>
              <a:t>src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directory&gt;  </a:t>
            </a:r>
            <a:r>
              <a:rPr lang="en-US" b="1" dirty="0" smtClean="0">
                <a:solidFill>
                  <a:schemeClr val="tx1"/>
                </a:solidFill>
              </a:rPr>
              <a:t>&lt;hdfs des </a:t>
            </a:r>
            <a:r>
              <a:rPr lang="en-US" b="1" dirty="0">
                <a:solidFill>
                  <a:schemeClr val="tx1"/>
                </a:solidFill>
              </a:rPr>
              <a:t>directory</a:t>
            </a:r>
            <a:r>
              <a:rPr lang="en-US" b="1" dirty="0" smtClean="0">
                <a:solidFill>
                  <a:schemeClr val="tx1"/>
                </a:solidFill>
              </a:rPr>
              <a:t>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</a:t>
            </a:r>
            <a:r>
              <a:rPr lang="en-US" b="1" dirty="0" err="1" smtClean="0">
                <a:solidFill>
                  <a:schemeClr val="tx1"/>
                </a:solidFill>
              </a:rPr>
              <a:t>moveFormLocal</a:t>
            </a:r>
            <a:r>
              <a:rPr lang="en-US" b="1" dirty="0" smtClean="0">
                <a:solidFill>
                  <a:schemeClr val="tx1"/>
                </a:solidFill>
              </a:rPr>
              <a:t>  &lt;local </a:t>
            </a:r>
            <a:r>
              <a:rPr lang="en-US" b="1" dirty="0" err="1" smtClean="0">
                <a:solidFill>
                  <a:schemeClr val="tx1"/>
                </a:solidFill>
              </a:rPr>
              <a:t>src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directory&gt;  </a:t>
            </a:r>
            <a:r>
              <a:rPr lang="en-US" b="1" dirty="0" smtClean="0">
                <a:solidFill>
                  <a:schemeClr val="tx1"/>
                </a:solidFill>
              </a:rPr>
              <a:t>&lt;hdfs des </a:t>
            </a:r>
            <a:r>
              <a:rPr lang="en-US" b="1" dirty="0">
                <a:solidFill>
                  <a:schemeClr val="tx1"/>
                </a:solidFill>
              </a:rPr>
              <a:t>directory</a:t>
            </a:r>
            <a:r>
              <a:rPr lang="en-US" b="1" dirty="0" smtClean="0">
                <a:solidFill>
                  <a:schemeClr val="tx1"/>
                </a:solidFill>
              </a:rPr>
              <a:t>&gt;    //cut and past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-get   &lt;</a:t>
            </a:r>
            <a:r>
              <a:rPr lang="en-US" b="1" dirty="0" err="1" smtClean="0">
                <a:solidFill>
                  <a:schemeClr val="tx1"/>
                </a:solidFill>
              </a:rPr>
              <a:t>hdf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src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directory&gt;  </a:t>
            </a:r>
            <a:r>
              <a:rPr lang="en-US" b="1" dirty="0" smtClean="0">
                <a:solidFill>
                  <a:schemeClr val="tx1"/>
                </a:solidFill>
              </a:rPr>
              <a:t>&lt;local des </a:t>
            </a:r>
            <a:r>
              <a:rPr lang="en-US" b="1" dirty="0">
                <a:solidFill>
                  <a:schemeClr val="tx1"/>
                </a:solidFill>
              </a:rPr>
              <a:t>directory</a:t>
            </a:r>
            <a:r>
              <a:rPr lang="en-US" b="1" dirty="0" smtClean="0">
                <a:solidFill>
                  <a:schemeClr val="tx1"/>
                </a:solidFill>
              </a:rPr>
              <a:t>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</a:t>
            </a:r>
            <a:r>
              <a:rPr lang="en-US" b="1" dirty="0" err="1" smtClean="0">
                <a:solidFill>
                  <a:schemeClr val="tx1"/>
                </a:solidFill>
              </a:rPr>
              <a:t>copyToLocal</a:t>
            </a:r>
            <a:r>
              <a:rPr lang="en-US" b="1" dirty="0" smtClean="0">
                <a:solidFill>
                  <a:schemeClr val="tx1"/>
                </a:solidFill>
              </a:rPr>
              <a:t>   </a:t>
            </a:r>
            <a:r>
              <a:rPr lang="en-US" b="1" dirty="0">
                <a:solidFill>
                  <a:schemeClr val="tx1"/>
                </a:solidFill>
              </a:rPr>
              <a:t>&lt;</a:t>
            </a:r>
            <a:r>
              <a:rPr lang="en-US" b="1" dirty="0" err="1">
                <a:solidFill>
                  <a:schemeClr val="tx1"/>
                </a:solidFill>
              </a:rPr>
              <a:t>hdf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src</a:t>
            </a:r>
            <a:r>
              <a:rPr lang="en-US" b="1" dirty="0">
                <a:solidFill>
                  <a:schemeClr val="tx1"/>
                </a:solidFill>
              </a:rPr>
              <a:t> directory&gt;  &lt;local des directory&gt;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</a:t>
            </a:r>
            <a:r>
              <a:rPr lang="en-US" b="1" dirty="0" err="1" smtClean="0">
                <a:solidFill>
                  <a:schemeClr val="tx1"/>
                </a:solidFill>
              </a:rPr>
              <a:t>moveToLocal</a:t>
            </a:r>
            <a:r>
              <a:rPr lang="en-US" b="1" dirty="0" smtClean="0">
                <a:solidFill>
                  <a:schemeClr val="tx1"/>
                </a:solidFill>
              </a:rPr>
              <a:t>  </a:t>
            </a:r>
            <a:r>
              <a:rPr lang="en-US" b="1" dirty="0">
                <a:solidFill>
                  <a:schemeClr val="tx1"/>
                </a:solidFill>
              </a:rPr>
              <a:t>&lt;</a:t>
            </a:r>
            <a:r>
              <a:rPr lang="en-US" b="1" dirty="0" err="1">
                <a:solidFill>
                  <a:schemeClr val="tx1"/>
                </a:solidFill>
              </a:rPr>
              <a:t>hdf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src</a:t>
            </a:r>
            <a:r>
              <a:rPr lang="en-US" b="1" dirty="0">
                <a:solidFill>
                  <a:schemeClr val="tx1"/>
                </a:solidFill>
              </a:rPr>
              <a:t> directory&gt;  &lt;local des directory</a:t>
            </a:r>
            <a:r>
              <a:rPr lang="en-US" b="1" dirty="0" smtClean="0">
                <a:solidFill>
                  <a:schemeClr val="tx1"/>
                </a:solidFill>
              </a:rPr>
              <a:t>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-cat   &lt;file name&gt;    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 smtClean="0">
                <a:solidFill>
                  <a:schemeClr val="tx1"/>
                </a:solidFill>
              </a:rPr>
              <a:t>-</a:t>
            </a:r>
            <a:r>
              <a:rPr lang="en-US" b="1" dirty="0" err="1" smtClean="0">
                <a:solidFill>
                  <a:schemeClr val="tx1"/>
                </a:solidFill>
              </a:rPr>
              <a:t>rm</a:t>
            </a:r>
            <a:r>
              <a:rPr lang="en-US" b="1" dirty="0" smtClean="0">
                <a:solidFill>
                  <a:schemeClr val="tx1"/>
                </a:solidFill>
              </a:rPr>
              <a:t>   </a:t>
            </a:r>
            <a:r>
              <a:rPr lang="en-US" b="1" dirty="0">
                <a:solidFill>
                  <a:schemeClr val="tx1"/>
                </a:solidFill>
              </a:rPr>
              <a:t>&lt;file name</a:t>
            </a:r>
            <a:r>
              <a:rPr lang="en-US" b="1" dirty="0" smtClean="0">
                <a:solidFill>
                  <a:schemeClr val="tx1"/>
                </a:solidFill>
              </a:rPr>
              <a:t>&gt;    //remove file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</a:t>
            </a:r>
            <a:r>
              <a:rPr lang="en-US" b="1" dirty="0">
                <a:solidFill>
                  <a:schemeClr val="tx1"/>
                </a:solidFill>
              </a:rPr>
              <a:t>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  -</a:t>
            </a:r>
            <a:r>
              <a:rPr lang="en-US" b="1" dirty="0" err="1" smtClean="0">
                <a:solidFill>
                  <a:schemeClr val="tx1"/>
                </a:solidFill>
              </a:rPr>
              <a:t>rmr</a:t>
            </a:r>
            <a:r>
              <a:rPr lang="en-US" b="1" dirty="0" smtClean="0">
                <a:solidFill>
                  <a:schemeClr val="tx1"/>
                </a:solidFill>
              </a:rPr>
              <a:t>   &lt;directory </a:t>
            </a:r>
            <a:r>
              <a:rPr lang="en-US" b="1" dirty="0">
                <a:solidFill>
                  <a:schemeClr val="tx1"/>
                </a:solidFill>
              </a:rPr>
              <a:t>name&gt;    //remove </a:t>
            </a:r>
            <a:r>
              <a:rPr lang="en-US" b="1" dirty="0" smtClean="0">
                <a:solidFill>
                  <a:schemeClr val="tx1"/>
                </a:solidFill>
              </a:rPr>
              <a:t>directory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 smtClean="0">
                <a:solidFill>
                  <a:schemeClr val="tx1"/>
                </a:solidFill>
              </a:rPr>
              <a:t>$hadoop </a:t>
            </a:r>
            <a:r>
              <a:rPr lang="en-US" b="1" dirty="0" err="1" smtClean="0">
                <a:solidFill>
                  <a:schemeClr val="tx1"/>
                </a:solidFill>
              </a:rPr>
              <a:t>fs</a:t>
            </a:r>
            <a:r>
              <a:rPr lang="en-US" b="1" dirty="0" smtClean="0">
                <a:solidFill>
                  <a:schemeClr val="tx1"/>
                </a:solidFill>
              </a:rPr>
              <a:t> –</a:t>
            </a:r>
            <a:r>
              <a:rPr lang="en-US" b="1" dirty="0" err="1" smtClean="0">
                <a:solidFill>
                  <a:schemeClr val="tx1"/>
                </a:solidFill>
              </a:rPr>
              <a:t>cp</a:t>
            </a:r>
            <a:r>
              <a:rPr lang="en-US" b="1" dirty="0" smtClean="0">
                <a:solidFill>
                  <a:schemeClr val="tx1"/>
                </a:solidFill>
              </a:rPr>
              <a:t> &lt;</a:t>
            </a:r>
            <a:r>
              <a:rPr lang="en-US" b="1" dirty="0" err="1" smtClean="0">
                <a:solidFill>
                  <a:schemeClr val="tx1"/>
                </a:solidFill>
              </a:rPr>
              <a:t>src</a:t>
            </a:r>
            <a:r>
              <a:rPr lang="en-US" b="1" dirty="0" smtClean="0">
                <a:solidFill>
                  <a:schemeClr val="tx1"/>
                </a:solidFill>
              </a:rPr>
              <a:t>-location&gt;  &lt;des-location&gt;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$hadoop </a:t>
            </a:r>
            <a:r>
              <a:rPr lang="en-US" b="1" dirty="0" err="1">
                <a:solidFill>
                  <a:schemeClr val="tx1"/>
                </a:solidFill>
              </a:rPr>
              <a:t>fs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–mv </a:t>
            </a:r>
            <a:r>
              <a:rPr lang="en-US" b="1" dirty="0">
                <a:solidFill>
                  <a:schemeClr val="tx1"/>
                </a:solidFill>
              </a:rPr>
              <a:t>&lt;</a:t>
            </a:r>
            <a:r>
              <a:rPr lang="en-US" b="1" dirty="0" err="1">
                <a:solidFill>
                  <a:schemeClr val="tx1"/>
                </a:solidFill>
              </a:rPr>
              <a:t>src</a:t>
            </a:r>
            <a:r>
              <a:rPr lang="en-US" b="1" dirty="0">
                <a:solidFill>
                  <a:schemeClr val="tx1"/>
                </a:solidFill>
              </a:rPr>
              <a:t>-location&gt;  &lt;des-location</a:t>
            </a:r>
            <a:r>
              <a:rPr lang="en-US" b="1" dirty="0" smtClean="0">
                <a:solidFill>
                  <a:schemeClr val="tx1"/>
                </a:solidFill>
              </a:rPr>
              <a:t>&gt;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$hadoop </a:t>
            </a:r>
            <a:r>
              <a:rPr lang="en-US" b="1" dirty="0" err="1" smtClean="0">
                <a:solidFill>
                  <a:schemeClr val="tx1"/>
                </a:solidFill>
              </a:rPr>
              <a:t>fs</a:t>
            </a:r>
            <a:r>
              <a:rPr lang="en-US" b="1" dirty="0" smtClean="0">
                <a:solidFill>
                  <a:schemeClr val="tx1"/>
                </a:solidFill>
              </a:rPr>
              <a:t> –du &lt;file name&gt;   //disk use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6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" y="304800"/>
            <a:ext cx="8991600" cy="59093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</a:rPr>
              <a:t>MAPPER </a:t>
            </a:r>
            <a:r>
              <a:rPr lang="en-US" b="1" dirty="0" smtClean="0">
                <a:latin typeface="Cambria" panose="02040503050406030204" pitchFamily="18" charset="0"/>
              </a:rPr>
              <a:t>CLASS</a:t>
            </a:r>
          </a:p>
          <a:p>
            <a:r>
              <a:rPr lang="en-US" b="1" dirty="0">
                <a:latin typeface="Cambria" panose="02040503050406030204" pitchFamily="18" charset="0"/>
              </a:rPr>
              <a:t>	</a:t>
            </a:r>
            <a:r>
              <a:rPr lang="en-US" b="1" dirty="0" smtClean="0">
                <a:latin typeface="Cambria" panose="02040503050406030204" pitchFamily="18" charset="0"/>
              </a:rPr>
              <a:t>	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Name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of the Mapper Class which inherits Super Class Mapper </a:t>
            </a:r>
            <a:endParaRPr lang="en-US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endParaRPr lang="en-US" b="1" dirty="0">
              <a:latin typeface="Cambria" panose="02040503050406030204" pitchFamily="18" charset="0"/>
            </a:endParaRPr>
          </a:p>
          <a:p>
            <a:endParaRPr lang="en-US" b="1" dirty="0" smtClean="0">
              <a:latin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</a:rPr>
              <a:t>public static class Map extends </a:t>
            </a:r>
            <a:r>
              <a:rPr lang="en-US" b="1" dirty="0" smtClean="0">
                <a:latin typeface="Cambria" panose="02040503050406030204" pitchFamily="18" charset="0"/>
              </a:rPr>
              <a:t> </a:t>
            </a:r>
          </a:p>
          <a:p>
            <a:r>
              <a:rPr lang="en-US" b="1" dirty="0" smtClean="0">
                <a:latin typeface="Cambria" panose="02040503050406030204" pitchFamily="18" charset="0"/>
              </a:rPr>
              <a:t>            Mapper&lt;</a:t>
            </a:r>
            <a:r>
              <a:rPr lang="en-US" b="1" dirty="0" err="1" smtClean="0">
                <a:latin typeface="Cambria" panose="02040503050406030204" pitchFamily="18" charset="0"/>
              </a:rPr>
              <a:t>LongWritable</a:t>
            </a:r>
            <a:r>
              <a:rPr lang="en-US" b="1" dirty="0" smtClean="0">
                <a:latin typeface="Cambria" panose="02040503050406030204" pitchFamily="18" charset="0"/>
              </a:rPr>
              <a:t>, Text, Text, </a:t>
            </a:r>
            <a:r>
              <a:rPr lang="en-US" b="1" dirty="0" err="1" smtClean="0">
                <a:latin typeface="Cambria" panose="02040503050406030204" pitchFamily="18" charset="0"/>
              </a:rPr>
              <a:t>IntWritable</a:t>
            </a:r>
            <a:r>
              <a:rPr lang="en-US" b="1" dirty="0" smtClean="0">
                <a:latin typeface="Cambria" panose="02040503050406030204" pitchFamily="18" charset="0"/>
              </a:rPr>
              <a:t>&gt; { </a:t>
            </a:r>
          </a:p>
          <a:p>
            <a:endParaRPr lang="en-US" b="1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  <a:r>
              <a:rPr lang="en-US" b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		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Mapper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Class takes 4 Arguments i.e. 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		Mapper&lt;KEYIN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, VALUEIN, KEYOUT, VALUEOUT&gt; 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//Defining a local variable one of type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IntWritable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private final static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IntWritable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one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= new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IntWritable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(1); </a:t>
            </a: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//Defining a local variable word of type Text </a:t>
            </a: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private Text word = new Text(); </a:t>
            </a:r>
            <a:endParaRPr lang="en-US" b="1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		      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We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override the map method which is defined in the Parent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		(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Mapper) Class. It takes 3 arguments as Inputs 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 		       map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( KEYIN key, VALUEIN value, Context </a:t>
            </a: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</a:rPr>
              <a:t>context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 ) </a:t>
            </a:r>
            <a:endParaRPr lang="en-US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public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void map(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LongWritable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 key, Text value, Context context) </a:t>
            </a: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throws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InterruptedException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 { </a:t>
            </a:r>
            <a:endParaRPr lang="en-US" b="1" dirty="0" smtClean="0">
              <a:latin typeface="Cambria" panose="02040503050406030204" pitchFamily="18" charset="0"/>
            </a:endParaRPr>
          </a:p>
          <a:p>
            <a:endParaRPr lang="en-US" b="1" dirty="0" smtClean="0">
              <a:latin typeface="Cambria" panose="02040503050406030204" pitchFamily="18" charset="0"/>
            </a:endParaRPr>
          </a:p>
          <a:p>
            <a:endParaRPr lang="en-US" b="1" dirty="0">
              <a:latin typeface="Cambria" panose="020405030504060302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590800" y="912989"/>
            <a:ext cx="2057400" cy="53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362200" y="2054578"/>
            <a:ext cx="1676400" cy="307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143000" y="4572000"/>
            <a:ext cx="1668439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9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48483"/>
            <a:ext cx="8686800" cy="42473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//Converting the record (single line) to String and storing it </a:t>
            </a: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in a String variable line </a:t>
            </a:r>
          </a:p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String line =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value.toString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();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</a:t>
            </a: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</a:rPr>
              <a:t>StringTokenizer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 is breaking the record (line) into words </a:t>
            </a:r>
          </a:p>
          <a:p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StringTokenizer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tokenizer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 = new </a:t>
            </a:r>
            <a:r>
              <a:rPr lang="en-US" b="1" dirty="0" err="1">
                <a:solidFill>
                  <a:srgbClr val="000000"/>
                </a:solidFill>
                <a:latin typeface="Cambria" panose="02040503050406030204" pitchFamily="18" charset="0"/>
              </a:rPr>
              <a:t>StringTokenizer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(line); </a:t>
            </a:r>
            <a:endParaRPr lang="en-US" b="1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//Running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while loop to get each token(word) one by one from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StringTokenizer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</a:p>
          <a:p>
            <a:endParaRPr lang="en-US" dirty="0">
              <a:latin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</a:rPr>
              <a:t>while (</a:t>
            </a:r>
            <a:r>
              <a:rPr lang="en-US" b="1" dirty="0" err="1">
                <a:latin typeface="Cambria" panose="02040503050406030204" pitchFamily="18" charset="0"/>
              </a:rPr>
              <a:t>tokenizer.hasMoreTokens</a:t>
            </a:r>
            <a:r>
              <a:rPr lang="en-US" b="1" dirty="0">
                <a:latin typeface="Cambria" panose="02040503050406030204" pitchFamily="18" charset="0"/>
              </a:rPr>
              <a:t>()) {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//Saving the token(word) in a variable word </a:t>
            </a:r>
          </a:p>
          <a:p>
            <a:r>
              <a:rPr lang="en-US" b="1" dirty="0" err="1">
                <a:latin typeface="Cambria" panose="02040503050406030204" pitchFamily="18" charset="0"/>
              </a:rPr>
              <a:t>word.set</a:t>
            </a:r>
            <a:r>
              <a:rPr lang="en-US" b="1" dirty="0">
                <a:latin typeface="Cambria" panose="02040503050406030204" pitchFamily="18" charset="0"/>
              </a:rPr>
              <a:t>(</a:t>
            </a:r>
            <a:r>
              <a:rPr lang="en-US" b="1" dirty="0" err="1">
                <a:latin typeface="Cambria" panose="02040503050406030204" pitchFamily="18" charset="0"/>
              </a:rPr>
              <a:t>tokenizer.nextToken</a:t>
            </a:r>
            <a:r>
              <a:rPr lang="en-US" b="1" dirty="0">
                <a:latin typeface="Cambria" panose="02040503050406030204" pitchFamily="18" charset="0"/>
              </a:rPr>
              <a:t>());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//Writing the output as (word, one), the value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Of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word will be equal to token and value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of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one is 1 </a:t>
            </a:r>
          </a:p>
          <a:p>
            <a:r>
              <a:rPr lang="en-US" b="1" dirty="0" err="1">
                <a:latin typeface="Cambria" panose="02040503050406030204" pitchFamily="18" charset="0"/>
              </a:rPr>
              <a:t>context.write</a:t>
            </a:r>
            <a:r>
              <a:rPr lang="en-US" b="1" dirty="0">
                <a:latin typeface="Cambria" panose="02040503050406030204" pitchFamily="18" charset="0"/>
              </a:rPr>
              <a:t>(word, </a:t>
            </a:r>
            <a:r>
              <a:rPr lang="en-US" b="1" i="1" dirty="0">
                <a:latin typeface="Cambria" panose="02040503050406030204" pitchFamily="18" charset="0"/>
              </a:rPr>
              <a:t>one</a:t>
            </a:r>
            <a:r>
              <a:rPr lang="en-US" b="1" dirty="0">
                <a:latin typeface="Cambria" panose="02040503050406030204" pitchFamily="18" charset="0"/>
              </a:rPr>
              <a:t>);</a:t>
            </a:r>
            <a:r>
              <a:rPr lang="en-US" dirty="0">
                <a:latin typeface="Cambria" panose="02040503050406030204" pitchFamily="18" charset="0"/>
              </a:rPr>
              <a:t> </a:t>
            </a:r>
            <a:endParaRPr lang="en-US" dirty="0" smtClean="0">
              <a:latin typeface="Cambria" panose="02040503050406030204" pitchFamily="18" charset="0"/>
            </a:endParaRPr>
          </a:p>
          <a:p>
            <a:r>
              <a:rPr lang="en-US" b="1" dirty="0" smtClean="0">
                <a:latin typeface="Cambria" panose="02040503050406030204" pitchFamily="18" charset="0"/>
              </a:rPr>
              <a:t>}</a:t>
            </a:r>
          </a:p>
          <a:p>
            <a:r>
              <a:rPr lang="en-US" b="1" dirty="0">
                <a:latin typeface="Cambria" panose="02040503050406030204" pitchFamily="18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4648200"/>
            <a:ext cx="8686800" cy="198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In the map method, we receive a record (single line). It is stored in a string variable line. Using </a:t>
            </a:r>
            <a:r>
              <a:rPr lang="en-US" dirty="0" err="1">
                <a:latin typeface="Cambria" panose="02040503050406030204" pitchFamily="18" charset="0"/>
              </a:rPr>
              <a:t>StringTokenizer</a:t>
            </a:r>
            <a:r>
              <a:rPr lang="en-US" dirty="0">
                <a:latin typeface="Cambria" panose="02040503050406030204" pitchFamily="18" charset="0"/>
              </a:rPr>
              <a:t>, we are breaking the line into individual words called tokens, on the basis of space as delimiter. If the line was Hello There, </a:t>
            </a:r>
            <a:r>
              <a:rPr lang="en-US" dirty="0" err="1">
                <a:latin typeface="Cambria" panose="02040503050406030204" pitchFamily="18" charset="0"/>
              </a:rPr>
              <a:t>StringTokenizer</a:t>
            </a:r>
            <a:r>
              <a:rPr lang="en-US" dirty="0">
                <a:latin typeface="Cambria" panose="02040503050406030204" pitchFamily="18" charset="0"/>
              </a:rPr>
              <a:t> will give two tokens Hello and There. Finally using the context object we are dumping the Mapper output. So as per our example the Output from the Mapper will be </a:t>
            </a:r>
          </a:p>
          <a:p>
            <a:pPr algn="just"/>
            <a:r>
              <a:rPr lang="en-US" dirty="0">
                <a:latin typeface="Cambria" panose="02040503050406030204" pitchFamily="18" charset="0"/>
              </a:rPr>
              <a:t>Hello 1 &amp; There 1 and so on. </a:t>
            </a:r>
            <a:endParaRPr lang="en-US" dirty="0" smtClean="0">
              <a:latin typeface="Cambria" panose="02040503050406030204" pitchFamily="18" charset="0"/>
            </a:endParaRPr>
          </a:p>
          <a:p>
            <a:pPr algn="just"/>
            <a:r>
              <a:rPr lang="en-US" b="1" dirty="0">
                <a:solidFill>
                  <a:srgbClr val="C00000"/>
                </a:solidFill>
                <a:latin typeface="Cambria" panose="02040503050406030204" pitchFamily="18" charset="0"/>
              </a:rPr>
              <a:t>The Output from the Mapper is taken as Input by the Reducer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370" y="152400"/>
            <a:ext cx="8915400" cy="67403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</a:rPr>
              <a:t>		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Name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of the Reducer Class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that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inherits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Super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Class Reducer </a:t>
            </a:r>
            <a:endParaRPr lang="en-US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endParaRPr lang="en-US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b="1" dirty="0" smtClean="0">
                <a:latin typeface="Cambria" panose="02040503050406030204" pitchFamily="18" charset="0"/>
              </a:rPr>
              <a:t>public </a:t>
            </a:r>
            <a:r>
              <a:rPr lang="en-US" b="1" dirty="0">
                <a:latin typeface="Cambria" panose="02040503050406030204" pitchFamily="18" charset="0"/>
              </a:rPr>
              <a:t>static class Reduce extends </a:t>
            </a:r>
          </a:p>
          <a:p>
            <a:r>
              <a:rPr lang="en-US" b="1" dirty="0">
                <a:latin typeface="Cambria" panose="02040503050406030204" pitchFamily="18" charset="0"/>
              </a:rPr>
              <a:t>Reducer&lt;Text, </a:t>
            </a:r>
            <a:r>
              <a:rPr lang="en-US" b="1" dirty="0" err="1">
                <a:latin typeface="Cambria" panose="02040503050406030204" pitchFamily="18" charset="0"/>
              </a:rPr>
              <a:t>IntWritable</a:t>
            </a:r>
            <a:r>
              <a:rPr lang="en-US" b="1" dirty="0">
                <a:latin typeface="Cambria" panose="02040503050406030204" pitchFamily="18" charset="0"/>
              </a:rPr>
              <a:t>, Text, </a:t>
            </a:r>
            <a:r>
              <a:rPr lang="en-US" b="1" dirty="0" err="1">
                <a:latin typeface="Cambria" panose="02040503050406030204" pitchFamily="18" charset="0"/>
              </a:rPr>
              <a:t>IntWritable</a:t>
            </a:r>
            <a:r>
              <a:rPr lang="en-US" b="1" dirty="0">
                <a:latin typeface="Cambria" panose="02040503050406030204" pitchFamily="18" charset="0"/>
              </a:rPr>
              <a:t>&gt; { </a:t>
            </a:r>
            <a:endParaRPr lang="en-US" b="1" dirty="0" smtClean="0">
              <a:latin typeface="Cambria" panose="02040503050406030204" pitchFamily="18" charset="0"/>
            </a:endParaRPr>
          </a:p>
          <a:p>
            <a:endParaRPr lang="en-US" b="1" dirty="0" smtClean="0">
              <a:latin typeface="Cambria" panose="02040503050406030204" pitchFamily="18" charset="0"/>
            </a:endParaRPr>
          </a:p>
          <a:p>
            <a:r>
              <a:rPr lang="en-US" dirty="0" smtClean="0">
                <a:latin typeface="Cambria" panose="02040503050406030204" pitchFamily="18" charset="0"/>
              </a:rPr>
              <a:t>			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Reducer Class takes 4 Arguments i.e. 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		Reducer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&lt;KEYIN, VALUEIN, KEYOUT, VALUEOUT&gt; 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		We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override the reduce method which is defined in the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		Parent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(Reduce) Class. It takes 3 arguments as Inputs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		reduce ( KEYIN key, VALUEIN value, Context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context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) </a:t>
            </a:r>
          </a:p>
          <a:p>
            <a:r>
              <a:rPr lang="en-US" b="1" dirty="0">
                <a:latin typeface="Cambria" panose="02040503050406030204" pitchFamily="18" charset="0"/>
              </a:rPr>
              <a:t>public void reduce(Text key, </a:t>
            </a:r>
            <a:r>
              <a:rPr lang="en-US" b="1" dirty="0" err="1">
                <a:latin typeface="Cambria" panose="02040503050406030204" pitchFamily="18" charset="0"/>
              </a:rPr>
              <a:t>Iterable</a:t>
            </a:r>
            <a:r>
              <a:rPr lang="en-US" b="1" dirty="0">
                <a:latin typeface="Cambria" panose="02040503050406030204" pitchFamily="18" charset="0"/>
              </a:rPr>
              <a:t>&lt;</a:t>
            </a:r>
            <a:r>
              <a:rPr lang="en-US" b="1" dirty="0" err="1">
                <a:latin typeface="Cambria" panose="02040503050406030204" pitchFamily="18" charset="0"/>
              </a:rPr>
              <a:t>IntWritable</a:t>
            </a:r>
            <a:r>
              <a:rPr lang="en-US" b="1" dirty="0">
                <a:latin typeface="Cambria" panose="02040503050406030204" pitchFamily="18" charset="0"/>
              </a:rPr>
              <a:t>&gt; values, </a:t>
            </a:r>
          </a:p>
          <a:p>
            <a:r>
              <a:rPr lang="en-US" b="1" dirty="0">
                <a:latin typeface="Cambria" panose="02040503050406030204" pitchFamily="18" charset="0"/>
              </a:rPr>
              <a:t>Context context) throws </a:t>
            </a:r>
            <a:r>
              <a:rPr lang="en-US" b="1" dirty="0" err="1">
                <a:latin typeface="Cambria" panose="02040503050406030204" pitchFamily="18" charset="0"/>
              </a:rPr>
              <a:t>IOException</a:t>
            </a:r>
            <a:r>
              <a:rPr lang="en-US" b="1" dirty="0">
                <a:latin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</a:rPr>
              <a:t>InterruptedException</a:t>
            </a:r>
            <a:r>
              <a:rPr lang="en-US" b="1" dirty="0">
                <a:latin typeface="Cambria" panose="02040503050406030204" pitchFamily="18" charset="0"/>
              </a:rPr>
              <a:t> { </a:t>
            </a:r>
            <a:endParaRPr lang="en-US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//Defining a local variable sum of type </a:t>
            </a: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</a:rPr>
              <a:t>int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</a:p>
          <a:p>
            <a:r>
              <a:rPr lang="en-US" b="1" dirty="0" err="1">
                <a:latin typeface="Cambria" panose="02040503050406030204" pitchFamily="18" charset="0"/>
              </a:rPr>
              <a:t>int</a:t>
            </a:r>
            <a:r>
              <a:rPr lang="en-US" b="1" dirty="0">
                <a:latin typeface="Cambria" panose="02040503050406030204" pitchFamily="18" charset="0"/>
              </a:rPr>
              <a:t> sum = 0;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//Running for loop to iterate over the values present in </a:t>
            </a:r>
          </a:p>
          <a:p>
            <a:r>
              <a:rPr lang="en-US" b="1" dirty="0">
                <a:latin typeface="Cambria" panose="02040503050406030204" pitchFamily="18" charset="0"/>
              </a:rPr>
              <a:t>Iterator </a:t>
            </a:r>
          </a:p>
          <a:p>
            <a:r>
              <a:rPr lang="en-US" b="1" dirty="0">
                <a:latin typeface="Cambria" panose="02040503050406030204" pitchFamily="18" charset="0"/>
              </a:rPr>
              <a:t>for (</a:t>
            </a:r>
            <a:r>
              <a:rPr lang="en-US" b="1" dirty="0" err="1">
                <a:latin typeface="Cambria" panose="02040503050406030204" pitchFamily="18" charset="0"/>
              </a:rPr>
              <a:t>IntWritable</a:t>
            </a:r>
            <a:r>
              <a:rPr lang="en-US" b="1" dirty="0">
                <a:latin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</a:rPr>
              <a:t>val</a:t>
            </a:r>
            <a:r>
              <a:rPr lang="en-US" b="1" dirty="0">
                <a:latin typeface="Cambria" panose="02040503050406030204" pitchFamily="18" charset="0"/>
              </a:rPr>
              <a:t> : values) {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//We are adding the value to the variable over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every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iteration </a:t>
            </a:r>
          </a:p>
          <a:p>
            <a:r>
              <a:rPr lang="en-US" b="1" dirty="0">
                <a:latin typeface="Cambria" panose="02040503050406030204" pitchFamily="18" charset="0"/>
              </a:rPr>
              <a:t>sum = sum + </a:t>
            </a:r>
            <a:r>
              <a:rPr lang="en-US" b="1" dirty="0" err="1">
                <a:latin typeface="Cambria" panose="02040503050406030204" pitchFamily="18" charset="0"/>
              </a:rPr>
              <a:t>val.get</a:t>
            </a:r>
            <a:r>
              <a:rPr lang="en-US" b="1" dirty="0">
                <a:latin typeface="Cambria" panose="02040503050406030204" pitchFamily="18" charset="0"/>
              </a:rPr>
              <a:t>();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//Finally writing the key and the value of sum(number of times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the word occurred in the input file) to the output file </a:t>
            </a:r>
          </a:p>
          <a:p>
            <a:r>
              <a:rPr lang="en-US" b="1" dirty="0" err="1">
                <a:latin typeface="Cambria" panose="02040503050406030204" pitchFamily="18" charset="0"/>
              </a:rPr>
              <a:t>context.write</a:t>
            </a:r>
            <a:r>
              <a:rPr lang="en-US" b="1" dirty="0">
                <a:latin typeface="Cambria" panose="02040503050406030204" pitchFamily="18" charset="0"/>
              </a:rPr>
              <a:t>(key, new </a:t>
            </a:r>
            <a:r>
              <a:rPr lang="en-US" b="1" dirty="0" err="1">
                <a:latin typeface="Cambria" panose="02040503050406030204" pitchFamily="18" charset="0"/>
              </a:rPr>
              <a:t>IntWritable</a:t>
            </a:r>
            <a:r>
              <a:rPr lang="en-US" b="1" dirty="0">
                <a:latin typeface="Cambria" panose="02040503050406030204" pitchFamily="18" charset="0"/>
              </a:rPr>
              <a:t>(sum)); </a:t>
            </a:r>
            <a:endParaRPr lang="en-US" b="1" dirty="0" smtClean="0">
              <a:latin typeface="Cambria" panose="02040503050406030204" pitchFamily="18" charset="0"/>
            </a:endParaRPr>
          </a:p>
          <a:p>
            <a:r>
              <a:rPr lang="en-US" b="1" dirty="0" smtClean="0">
                <a:latin typeface="Cambria" panose="02040503050406030204" pitchFamily="18" charset="0"/>
              </a:rPr>
              <a:t>}}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endParaRPr lang="en-US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143000" y="685800"/>
            <a:ext cx="160020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447800" y="2819400"/>
            <a:ext cx="160020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3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239663"/>
            <a:ext cx="891540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In the reduce method, we receive a key as word and a list of values as input. </a:t>
            </a:r>
          </a:p>
          <a:p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For Example: Hello &lt;1,1,1,1&gt; </a:t>
            </a:r>
          </a:p>
          <a:p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To find out the occurrence of the word ‘Hello’ in the input file then we simply have to sum all the values of the list. Hence, we run a for loop to iterate over the values one by one and adding it to variable sum. </a:t>
            </a:r>
          </a:p>
          <a:p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Finally, we will write the output, </a:t>
            </a:r>
            <a:r>
              <a:rPr 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i.e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key (word) &amp; value (sum) using the context object. </a:t>
            </a:r>
          </a:p>
          <a:p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So as per the above example the output will be: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Hello 4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" y="2754169"/>
            <a:ext cx="8915400" cy="29854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</a:rPr>
              <a:t>			</a:t>
            </a:r>
            <a:r>
              <a:rPr lang="en-US" dirty="0" smtClean="0">
                <a:latin typeface="Cambria" panose="02040503050406030204" pitchFamily="18" charset="0"/>
              </a:rPr>
              <a:t>The main method is known as the entry </a:t>
            </a:r>
            <a:r>
              <a:rPr lang="en-US" dirty="0">
                <a:latin typeface="Cambria" panose="02040503050406030204" pitchFamily="18" charset="0"/>
              </a:rPr>
              <a:t>point of </a:t>
            </a:r>
            <a:r>
              <a:rPr lang="en-US" dirty="0" smtClean="0">
                <a:latin typeface="Cambria" panose="02040503050406030204" pitchFamily="18" charset="0"/>
              </a:rPr>
              <a:t>the application</a:t>
            </a:r>
            <a:r>
              <a:rPr lang="en-US" dirty="0">
                <a:latin typeface="Cambria" panose="02040503050406030204" pitchFamily="18" charset="0"/>
              </a:rPr>
              <a:t>. This is the method </a:t>
            </a:r>
            <a:r>
              <a:rPr lang="en-US" dirty="0" smtClean="0">
                <a:latin typeface="Cambria" panose="02040503050406030204" pitchFamily="18" charset="0"/>
              </a:rPr>
              <a:t>that </a:t>
            </a:r>
            <a:r>
              <a:rPr lang="en-US" dirty="0">
                <a:latin typeface="Cambria" panose="02040503050406030204" pitchFamily="18" charset="0"/>
              </a:rPr>
              <a:t>is called as soon as jar </a:t>
            </a:r>
            <a:r>
              <a:rPr lang="en-US" dirty="0" smtClean="0">
                <a:latin typeface="Cambria" panose="02040503050406030204" pitchFamily="18" charset="0"/>
              </a:rPr>
              <a:t>is </a:t>
            </a:r>
            <a:r>
              <a:rPr lang="en-US" dirty="0">
                <a:latin typeface="Cambria" panose="02040503050406030204" pitchFamily="18" charset="0"/>
              </a:rPr>
              <a:t>executed </a:t>
            </a:r>
            <a:endParaRPr lang="en-US" dirty="0" smtClean="0">
              <a:latin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</a:endParaRPr>
          </a:p>
          <a:p>
            <a:r>
              <a:rPr lang="en-US" dirty="0" smtClean="0">
                <a:latin typeface="Cambria" panose="02040503050406030204" pitchFamily="18" charset="0"/>
              </a:rPr>
              <a:t>public </a:t>
            </a:r>
            <a:r>
              <a:rPr lang="en-US" dirty="0">
                <a:latin typeface="Cambria" panose="02040503050406030204" pitchFamily="18" charset="0"/>
              </a:rPr>
              <a:t>static void main(String[] </a:t>
            </a:r>
            <a:r>
              <a:rPr lang="en-US" dirty="0" err="1">
                <a:latin typeface="Cambria" panose="02040503050406030204" pitchFamily="18" charset="0"/>
              </a:rPr>
              <a:t>args</a:t>
            </a:r>
            <a:r>
              <a:rPr lang="en-US" dirty="0">
                <a:latin typeface="Cambria" panose="02040503050406030204" pitchFamily="18" charset="0"/>
              </a:rPr>
              <a:t>) throws Exception {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//Creating an object of Configuration class, which loads the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configuration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parameters </a:t>
            </a:r>
          </a:p>
          <a:p>
            <a:r>
              <a:rPr lang="en-US" dirty="0">
                <a:latin typeface="Cambria" panose="02040503050406030204" pitchFamily="18" charset="0"/>
              </a:rPr>
              <a:t>Configuration </a:t>
            </a:r>
            <a:r>
              <a:rPr lang="en-US" dirty="0" err="1">
                <a:latin typeface="Cambria" panose="02040503050406030204" pitchFamily="18" charset="0"/>
              </a:rPr>
              <a:t>conf</a:t>
            </a:r>
            <a:r>
              <a:rPr lang="en-US" dirty="0">
                <a:latin typeface="Cambria" panose="02040503050406030204" pitchFamily="18" charset="0"/>
              </a:rPr>
              <a:t> = new Configuration();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//Creating the object of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Job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class and passing the </a:t>
            </a:r>
            <a:r>
              <a:rPr lang="en-US" sz="1600" dirty="0" err="1">
                <a:solidFill>
                  <a:srgbClr val="FF0000"/>
                </a:solidFill>
                <a:latin typeface="Cambria" panose="02040503050406030204" pitchFamily="18" charset="0"/>
              </a:rPr>
              <a:t>conf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object and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Job name as arguments. The Job class allows the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user to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configure the job, submit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it,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and control its execution. </a:t>
            </a:r>
            <a:endParaRPr lang="en-US" sz="1600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</a:rPr>
              <a:t>Job </a:t>
            </a:r>
            <a:r>
              <a:rPr lang="en-US" sz="1600" b="1" dirty="0" err="1">
                <a:latin typeface="Cambria" panose="02040503050406030204" pitchFamily="18" charset="0"/>
              </a:rPr>
              <a:t>job</a:t>
            </a:r>
            <a:r>
              <a:rPr lang="en-US" sz="1600" b="1" dirty="0">
                <a:latin typeface="Cambria" panose="02040503050406030204" pitchFamily="18" charset="0"/>
              </a:rPr>
              <a:t> = new Job(</a:t>
            </a:r>
            <a:r>
              <a:rPr lang="en-US" sz="1600" b="1" dirty="0" err="1">
                <a:latin typeface="Cambria" panose="02040503050406030204" pitchFamily="18" charset="0"/>
              </a:rPr>
              <a:t>conf</a:t>
            </a:r>
            <a:r>
              <a:rPr lang="en-US" sz="1600" b="1" dirty="0">
                <a:latin typeface="Cambria" panose="02040503050406030204" pitchFamily="18" charset="0"/>
              </a:rPr>
              <a:t>, "</a:t>
            </a:r>
            <a:r>
              <a:rPr lang="en-US" sz="1600" b="1" dirty="0" err="1">
                <a:latin typeface="Cambria" panose="02040503050406030204" pitchFamily="18" charset="0"/>
              </a:rPr>
              <a:t>wordcount</a:t>
            </a:r>
            <a:r>
              <a:rPr lang="en-US" sz="1600" b="1" dirty="0">
                <a:latin typeface="Cambria" panose="02040503050406030204" pitchFamily="18" charset="0"/>
              </a:rPr>
              <a:t>"); </a:t>
            </a:r>
          </a:p>
          <a:p>
            <a:endParaRPr lang="en-US" sz="1600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781050" y="3010848"/>
            <a:ext cx="17526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6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" y="152400"/>
            <a:ext cx="9067800" cy="62478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//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Setting the jar by finding where a given class came from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job.setJarByClass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WordCountNew.class</a:t>
            </a:r>
            <a:r>
              <a:rPr lang="en-US" sz="1600" b="1" dirty="0">
                <a:latin typeface="Cambria" panose="02040503050406030204" pitchFamily="18" charset="0"/>
              </a:rPr>
              <a:t>);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//Setting the key class for job output data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job.setOutputKeyClass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Text.class</a:t>
            </a:r>
            <a:r>
              <a:rPr lang="en-US" sz="1600" b="1" dirty="0">
                <a:latin typeface="Cambria" panose="02040503050406030204" pitchFamily="18" charset="0"/>
              </a:rPr>
              <a:t>);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//Setting the value class for job output data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job.setOutputValueClass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IntWritable.class</a:t>
            </a:r>
            <a:r>
              <a:rPr lang="en-US" sz="1600" b="1" dirty="0">
                <a:latin typeface="Cambria" panose="02040503050406030204" pitchFamily="18" charset="0"/>
              </a:rPr>
              <a:t>); </a:t>
            </a:r>
            <a:endParaRPr lang="en-US" sz="1600" b="1" dirty="0" smtClean="0">
              <a:latin typeface="Cambria" panose="02040503050406030204" pitchFamily="18" charset="0"/>
            </a:endParaRPr>
          </a:p>
          <a:p>
            <a:endParaRPr lang="en-US" sz="1600" b="1" dirty="0">
              <a:latin typeface="Cambria" panose="02040503050406030204" pitchFamily="18" charset="0"/>
            </a:endParaRPr>
          </a:p>
          <a:p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//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Setting the mapper for the job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job.setMapperClass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Map.class</a:t>
            </a:r>
            <a:r>
              <a:rPr lang="en-US" sz="1600" b="1" dirty="0">
                <a:latin typeface="Cambria" panose="02040503050406030204" pitchFamily="18" charset="0"/>
              </a:rPr>
              <a:t>);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//Setting the reducer for the job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job.setReducerClass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Reduce.class</a:t>
            </a:r>
            <a:r>
              <a:rPr lang="en-US" sz="1600" b="1" dirty="0">
                <a:latin typeface="Cambria" panose="02040503050406030204" pitchFamily="18" charset="0"/>
              </a:rPr>
              <a:t>); </a:t>
            </a:r>
            <a:endParaRPr lang="en-US" sz="1600" b="1" dirty="0" smtClean="0">
              <a:latin typeface="Cambria" panose="02040503050406030204" pitchFamily="18" charset="0"/>
            </a:endParaRPr>
          </a:p>
          <a:p>
            <a:endParaRPr lang="en-US" sz="1600" dirty="0">
              <a:latin typeface="Cambria" panose="02040503050406030204" pitchFamily="18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//Setting the Input Format for the job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job.setInputFormatClass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TextInputFormat.class</a:t>
            </a:r>
            <a:r>
              <a:rPr lang="en-US" sz="1600" b="1" dirty="0">
                <a:latin typeface="Cambria" panose="02040503050406030204" pitchFamily="18" charset="0"/>
              </a:rPr>
              <a:t>);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//Setting the Output Format for the job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job.setOutputFormatClass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TextOutputFormat.class</a:t>
            </a:r>
            <a:r>
              <a:rPr lang="en-US" sz="1600" b="1" dirty="0">
                <a:latin typeface="Cambria" panose="02040503050406030204" pitchFamily="18" charset="0"/>
              </a:rPr>
              <a:t>); </a:t>
            </a:r>
            <a:endParaRPr lang="en-US" sz="1600" b="1" dirty="0" smtClean="0">
              <a:latin typeface="Cambria" panose="02040503050406030204" pitchFamily="18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//Adding a path which will act as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an input for the MR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job. </a:t>
            </a:r>
            <a:r>
              <a:rPr lang="en-US" sz="1600" dirty="0" err="1">
                <a:solidFill>
                  <a:srgbClr val="FF0000"/>
                </a:solidFill>
                <a:latin typeface="Cambria" panose="02040503050406030204" pitchFamily="18" charset="0"/>
              </a:rPr>
              <a:t>args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[0]  means it will use the first argument written on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terminal 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as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input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path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FileInputFormat.</a:t>
            </a:r>
            <a:r>
              <a:rPr lang="en-US" sz="1600" b="1" i="1" dirty="0" err="1">
                <a:latin typeface="Cambria" panose="02040503050406030204" pitchFamily="18" charset="0"/>
              </a:rPr>
              <a:t>addInputPath</a:t>
            </a:r>
            <a:r>
              <a:rPr lang="en-US" sz="1600" b="1" dirty="0">
                <a:latin typeface="Cambria" panose="02040503050406030204" pitchFamily="18" charset="0"/>
              </a:rPr>
              <a:t>(job, new Path(</a:t>
            </a:r>
            <a:r>
              <a:rPr lang="en-US" sz="1600" b="1" dirty="0" err="1">
                <a:latin typeface="Cambria" panose="02040503050406030204" pitchFamily="18" charset="0"/>
              </a:rPr>
              <a:t>args</a:t>
            </a:r>
            <a:r>
              <a:rPr lang="en-US" sz="1600" b="1" dirty="0">
                <a:latin typeface="Cambria" panose="02040503050406030204" pitchFamily="18" charset="0"/>
              </a:rPr>
              <a:t>[0]));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//Setting the path to a directory where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MR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job will dump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output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. </a:t>
            </a:r>
            <a:r>
              <a:rPr lang="en-US" sz="1600" dirty="0" err="1">
                <a:solidFill>
                  <a:srgbClr val="FF0000"/>
                </a:solidFill>
                <a:latin typeface="Cambria" panose="02040503050406030204" pitchFamily="18" charset="0"/>
              </a:rPr>
              <a:t>args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[1] means it will use the second argument written on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terminal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as </a:t>
            </a:r>
            <a:r>
              <a:rPr lang="en-US" sz="16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the output 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path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FileOutputFormat.</a:t>
            </a:r>
            <a:r>
              <a:rPr lang="en-US" sz="1600" b="1" i="1" dirty="0" err="1">
                <a:latin typeface="Cambria" panose="02040503050406030204" pitchFamily="18" charset="0"/>
              </a:rPr>
              <a:t>setOutputPath</a:t>
            </a:r>
            <a:r>
              <a:rPr lang="en-US" sz="1600" b="1" dirty="0">
                <a:latin typeface="Cambria" panose="02040503050406030204" pitchFamily="18" charset="0"/>
              </a:rPr>
              <a:t>(</a:t>
            </a:r>
            <a:r>
              <a:rPr lang="en-US" sz="1600" b="1" dirty="0" err="1">
                <a:latin typeface="Cambria" panose="02040503050406030204" pitchFamily="18" charset="0"/>
              </a:rPr>
              <a:t>job,new</a:t>
            </a:r>
            <a:r>
              <a:rPr lang="en-US" sz="1600" b="1" dirty="0">
                <a:latin typeface="Cambria" panose="02040503050406030204" pitchFamily="18" charset="0"/>
              </a:rPr>
              <a:t> Path(</a:t>
            </a:r>
            <a:r>
              <a:rPr lang="en-US" sz="1600" b="1" dirty="0" err="1">
                <a:latin typeface="Cambria" panose="02040503050406030204" pitchFamily="18" charset="0"/>
              </a:rPr>
              <a:t>args</a:t>
            </a:r>
            <a:r>
              <a:rPr lang="en-US" sz="1600" b="1" dirty="0">
                <a:latin typeface="Cambria" panose="02040503050406030204" pitchFamily="18" charset="0"/>
              </a:rPr>
              <a:t>[1])); </a:t>
            </a:r>
          </a:p>
          <a:p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</a:rPr>
              <a:t>//Submitting the job to the cluster and waiting for its completion </a:t>
            </a:r>
          </a:p>
          <a:p>
            <a:r>
              <a:rPr lang="en-US" sz="1600" b="1" dirty="0" err="1">
                <a:latin typeface="Cambria" panose="02040503050406030204" pitchFamily="18" charset="0"/>
              </a:rPr>
              <a:t>job.waitForCompletion</a:t>
            </a:r>
            <a:r>
              <a:rPr lang="en-US" sz="1600" b="1" dirty="0">
                <a:latin typeface="Cambria" panose="02040503050406030204" pitchFamily="18" charset="0"/>
              </a:rPr>
              <a:t>(true); </a:t>
            </a:r>
          </a:p>
          <a:p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1"/>
            <a:ext cx="9067800" cy="37923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to Develop Word Count Problem Using Eclipse IDE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57200"/>
            <a:ext cx="9067800" cy="61863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1:   Create a file  (inputfile.txt).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2  : Make 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</a:rPr>
              <a:t>a hdfs directory </a:t>
            </a:r>
            <a:endParaRPr lang="en-US" b="1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dirty="0" smtClean="0">
                <a:latin typeface="Cambria" panose="02040503050406030204" pitchFamily="18" charset="0"/>
              </a:rPr>
              <a:t>  	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$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 hadoop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fs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-</a:t>
            </a: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</a:rPr>
              <a:t>mkdir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 -p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/home/user/input 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</a:rPr>
              <a:t>3</a:t>
            </a:r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 :loading inputfile.txt from local file system to HDFS</a:t>
            </a:r>
            <a:r>
              <a:rPr lang="en-US" b="1" dirty="0" smtClean="0">
                <a:latin typeface="Cambria" panose="02040503050406030204" pitchFamily="18" charset="0"/>
              </a:rPr>
              <a:t>.</a:t>
            </a:r>
          </a:p>
          <a:p>
            <a:r>
              <a:rPr lang="en-US" dirty="0">
                <a:latin typeface="Cambria" panose="02040503050406030204" pitchFamily="18" charset="0"/>
              </a:rPr>
              <a:t>	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$hadoop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fs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–put   /home/user/inputfile.txt   /home/user/input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4:  Write Java programs for processing using Eclipse ID</a:t>
            </a:r>
          </a:p>
          <a:p>
            <a:r>
              <a:rPr lang="en-US" dirty="0">
                <a:latin typeface="Cambria" panose="02040503050406030204" pitchFamily="18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)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DriverCode.java ii) MapperCode.java   iii) ReducerCode.java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5  :  Set the Java Build path(class path) and Eclipse IDE Compile All java file.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6  :  Create  jar  file using  Eclipse IDE.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7:    Run jar file </a:t>
            </a:r>
            <a:r>
              <a:rPr lang="en-US" b="1" dirty="0" smtClean="0">
                <a:latin typeface="Cambria" panose="02040503050406030204" pitchFamily="18" charset="0"/>
              </a:rPr>
              <a:t>				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$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hadoop  jar WordCount.jar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/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home/user/input/inputfile.txt /home/user/output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ambria" panose="02040503050406030204" pitchFamily="18" charset="0"/>
              </a:rPr>
              <a:t>          </a:t>
            </a:r>
            <a:r>
              <a:rPr lang="en-US" b="1" dirty="0" err="1" smtClean="0">
                <a:solidFill>
                  <a:srgbClr val="7030A0"/>
                </a:solidFill>
                <a:latin typeface="Cambria" panose="02040503050406030204" pitchFamily="18" charset="0"/>
              </a:rPr>
              <a:t>DriverCode</a:t>
            </a:r>
            <a:r>
              <a:rPr lang="en-US" b="1" dirty="0" smtClean="0">
                <a:solidFill>
                  <a:srgbClr val="7030A0"/>
                </a:solidFill>
                <a:latin typeface="Cambria" panose="02040503050406030204" pitchFamily="18" charset="0"/>
              </a:rPr>
              <a:t>                           </a:t>
            </a:r>
            <a:r>
              <a:rPr lang="en-US" b="1" dirty="0" err="1" smtClean="0">
                <a:solidFill>
                  <a:srgbClr val="7030A0"/>
                </a:solidFill>
                <a:latin typeface="Cambria" panose="02040503050406030204" pitchFamily="18" charset="0"/>
              </a:rPr>
              <a:t>args</a:t>
            </a:r>
            <a:r>
              <a:rPr lang="en-US" b="1" dirty="0" smtClean="0">
                <a:solidFill>
                  <a:srgbClr val="7030A0"/>
                </a:solidFill>
                <a:latin typeface="Cambria" panose="02040503050406030204" pitchFamily="18" charset="0"/>
              </a:rPr>
              <a:t>[0</a:t>
            </a:r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</a:rPr>
              <a:t>] </a:t>
            </a:r>
            <a:r>
              <a:rPr lang="en-US" b="1" dirty="0" smtClean="0">
                <a:solidFill>
                  <a:srgbClr val="7030A0"/>
                </a:solidFill>
                <a:latin typeface="Cambria" panose="02040503050406030204" pitchFamily="18" charset="0"/>
              </a:rPr>
              <a:t>                                </a:t>
            </a:r>
            <a:r>
              <a:rPr lang="en-US" b="1" dirty="0" err="1" smtClean="0">
                <a:solidFill>
                  <a:srgbClr val="7030A0"/>
                </a:solidFill>
                <a:latin typeface="Cambria" panose="02040503050406030204" pitchFamily="18" charset="0"/>
              </a:rPr>
              <a:t>args</a:t>
            </a:r>
            <a:r>
              <a:rPr lang="en-US" b="1" dirty="0" smtClean="0">
                <a:solidFill>
                  <a:srgbClr val="7030A0"/>
                </a:solidFill>
                <a:latin typeface="Cambria" panose="02040503050406030204" pitchFamily="18" charset="0"/>
              </a:rPr>
              <a:t>[1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]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Note :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	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if  Main methods file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is selected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at the time of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the jar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file creation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 $hadoop  jar WordCount.jar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/home/user/input/inputfile.txt /home/user/output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	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8: View the result</a:t>
            </a:r>
          </a:p>
          <a:p>
            <a:r>
              <a:rPr lang="en-US" b="1" dirty="0">
                <a:latin typeface="Cambria" panose="02040503050406030204" pitchFamily="18" charset="0"/>
              </a:rPr>
              <a:t> </a:t>
            </a:r>
            <a:r>
              <a:rPr lang="en-US" b="1" dirty="0" smtClean="0">
                <a:latin typeface="Cambria" panose="02040503050406030204" pitchFamily="18" charset="0"/>
              </a:rPr>
              <a:t> 	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$hadoop 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fs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-cat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/home/user/output/part-r-00000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</a:rPr>
              <a:t>  </a:t>
            </a:r>
            <a:endParaRPr lang="en-US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	or</a:t>
            </a: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</a:rPr>
              <a:t> 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 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 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	$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 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hadoop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fs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-cat /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home/user/output/part-00000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Step 9 :  if want to remove the folder created using hdfs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	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$hadoop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fs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–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rm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 -R /home/user/output</a:t>
            </a:r>
            <a:endParaRPr lang="en-US" dirty="0" smtClean="0">
              <a:latin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4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9/15/2025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Praveen Kumar Chandaliya, DoAI, SVNIT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1176</TotalTime>
  <Words>3986</Words>
  <Application>Microsoft Office PowerPoint</Application>
  <PresentationFormat>On-screen Show (4:3)</PresentationFormat>
  <Paragraphs>520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Cambria</vt:lpstr>
      <vt:lpstr>Roboto</vt:lpstr>
      <vt:lpstr>Times New Roman</vt:lpstr>
      <vt:lpstr>Wingdings</vt:lpstr>
      <vt:lpstr>Office Theme</vt:lpstr>
      <vt:lpstr>HADOOP2.x and WordCount</vt:lpstr>
      <vt:lpstr>Hadoop Storage Scalability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Hadoop?</vt:lpstr>
      <vt:lpstr>PowerPoint Presentation</vt:lpstr>
      <vt:lpstr>PowerPoint Presentation</vt:lpstr>
      <vt:lpstr>HDFS </vt:lpstr>
      <vt:lpstr>NORMAL FILE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</dc:title>
  <dc:creator>praveen</dc:creator>
  <cp:lastModifiedBy>Praveen Kumar Chandaliya</cp:lastModifiedBy>
  <cp:revision>278</cp:revision>
  <dcterms:created xsi:type="dcterms:W3CDTF">2015-08-10T16:04:59Z</dcterms:created>
  <dcterms:modified xsi:type="dcterms:W3CDTF">2025-09-15T02:09:27Z</dcterms:modified>
</cp:coreProperties>
</file>